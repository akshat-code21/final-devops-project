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9c61ff4-c89a-a9ad-6e41-bf2d2ec19946}">
          <p14:sldIdLst>
            <p14:sldId id="256"/>
          </p14:sldIdLst>
        </p14:section>
        <p14:section name="Architecture" id="{d24cee12-5d26-ee17-61c6-57e82e8cc580}">
          <p14:sldIdLst>
            <p14:sldId id="257"/>
          </p14:sldIdLst>
        </p14:section>
        <p14:section name="Build" id="{a6c1132c-a7d2-67b8-c47b-7dfd2feba772}">
          <p14:sldIdLst>
            <p14:sldId id="258"/>
            <p14:sldId id="259"/>
          </p14:sldIdLst>
        </p14:section>
        <p14:section name="Ship" id="{8360f964-ac5e-014a-a1a9-dfbd4c589e08}">
          <p14:sldIdLst>
            <p14:sldId id="260"/>
            <p14:sldId id="261"/>
            <p14:sldId id="262"/>
          </p14:sldIdLst>
        </p14:section>
        <p14:section name="Run" id="{b642f794-5980-18a0-bcce-0f6c9ca93f7d}">
          <p14:sldIdLst>
            <p14:sldId id="263"/>
            <p14:sldId id="264"/>
            <p14:sldId id="265"/>
            <p14:sldId id="266"/>
          </p14:sldIdLst>
        </p14:section>
        <p14:section name="Extras" id="{f915dbd5-e8c4-1a68-550d-e220a7f5de40}">
          <p14:sldIdLst>
            <p14:sldId id="267"/>
          </p14:sldIdLst>
        </p14:section>
        <p14:section name="Demo" id="{69d39b2d-a93f-9c9c-2d7b-d5be1fe4e5fc}">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Akshat. My project is ExpensePilot, an expense tracker where you log expenses and move them through pending, approved and paid. The app is small on purpose; the point of the project is everything around it: tests, containers, a CI/CD pipeline with security gates, Terraform on AWS, Kubernetes with Helm,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flow on one slide. A push to main kicks off GitHub Actions: tests, security checks, Docker builds and a Trivy scan. Only if the scan passes do images go to GHCR, tagged with the commit SHA. Helm and ArgoCD then deploy them into the expensepilot namespace. Ingress sends / to the frontend and /api to the backend, the backend talks to Postgres, and Prometheus scrapes the backend for Grafana. On the right is the AWS side that Terraform builds: a VPC and an EKS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with Vite, the backend is FastAPI, and data lives in Postgres with Alembic handling the schema. There are full CRUD routes on /api/expenses plus a stats route that powers the dashboard cards. /health and /ready are used as Kubernetes liveness and readiness probes, and /metrics feeds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tests cover the health and root routes and every expense route. The test file points DATABASE_URL at a local SQLite file, so tests never touch the real database. This same command is the first job in the pipeline. For Git, the repo is public and the commit history uses conventional messages like feat and fix, so you can read what changed from the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image is python slim and drops to user 10001 before starting. The frontend is a two stage build: node builds the static files and only the dist folder goes into nginx alpine, running as a non-root user on 8080. Compose brings up postgres, backend and frontend, and the backend waits for the postgres healthcheck so it doesn't crash on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five jobs linked with needs, so if one fails nothing after it runs. Tests and the frontend build come first, then secret scanning, static analysis and dependency audit, then the image build and Trivy. Only after that do images get pushed to GHCR. The GHCR page shows the backend package with one tag per commit SHA. The deploy step passes that SHA as the Helm image tag, which means I can always tell exactly which commit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both the backend and frontend images after they are built. It is set to exit with code 1 on any HIGH or CRITICAL finding that has a fix available, which fails the job and stops the push. On the first run it found a libpcre2 vulnerability in the OS packages of the base images. The fix was to upgrade OS packages during the build. After that both scans passed, which is what the screenshot shows. Ignore-unfixed means we don't block on CVEs nobody can patch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uses the community VPC and EKS modules. The VPC has two public and two private subnets across two availability zones in Mumbai, with one NAT gateway. EKS 1.31 runs a managed node group of two t3.micro nodes in the private subnets. Plan showed 56 resources to add and apply created all 56, with the cluster endpoint and VPC id as outputs. After evaluation I run terraform destroy so nothing keeps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cluster Terraform created, showing Active on Kubernetes 1.31 in the Mumbai region in the AWS console. Once I had the evidence I ran terraform destroy. It planned 56 resources to destroy, the same 56 that apply created, including the VPC and the EKS cluster, and after confirming with yes it finished with Destroy complete, 56 destroyed. The VPC is the last thing removed. There are no running costs left on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objects are in the Helm chart, with a namespace manifest in k8s. Ingress routes slash to the frontend service and /api to the backend service, both ClusterIP with two replicas each. The backend also has an HPA from 2 to 6 pods at 60 percent CPU. Postgres keeps its data on a 5 gigabyte PVC. All five pods are Running and helm list shows the release as deployed at revision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uses prometheus-fastapi-instrumentator, which exposes request counts and latency histograms on /metrics. kube-prometheus-stack is installed in the monitoring namespace and a ServiceMonitor tells it to scrape the backend every 15 seconds. In Prometheus the backend target reports up equals 1, and the Grafana panel is reading that live. There are also two alert rules: backend down and high 5xx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beyond the rubric. ArgoCD is pointed at the Helm chart in the repo; it shows Healthy and Synced, and if someone edits a resource by hand it puts it back. I also built a troubleshooting lab with five broken setups, from a bad image tag to an Ingress 502, each with the kubectl commands I used to find the cause and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I'll change the heading on the dashboard, commit and push. We watch the Actions run go green and the new SHA tag appear in GHCR. Then I roll it out with helm upgrade using that tag, and kubectl rollout status shows the new pods replacing the old ones. Refreshing expensepilot.local shows the change. The README in the repo has all of these steps and screenshots.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kshat-code21/final-devops-project" TargetMode="External"/><Relationship Id="rId2" Type="http://schemas.openxmlformats.org/officeDocument/2006/relationships/image" Target="../media/image-1-1.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kshat-code21/final-devops-project" TargetMode="External"/><Relationship Id="rId1" Type="http://schemas.openxmlformats.org/officeDocument/2006/relationships/image" Target="../media/image-13-1.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ourier New" pitchFamily="34" charset="0"/>
                <a:ea typeface="Courier New" pitchFamily="34" charset="-122"/>
                <a:cs typeface="Courier New" pitchFamily="34" charset="-120"/>
              </a:rPr>
              <a:t>DEVOPS CAPSTONE  /  FINAL PROJECT</a:t>
            </a:r>
            <a:endParaRPr lang="en-US" sz="1300" dirty="0"/>
          </a:p>
        </p:txBody>
      </p:sp>
      <p:sp>
        <p:nvSpPr>
          <p:cNvPr id="3" name="Text 1"/>
          <p:cNvSpPr txBox="1"/>
          <p:nvPr/>
        </p:nvSpPr>
        <p:spPr>
          <a:xfrm>
            <a:off x="548640" y="1737360"/>
            <a:ext cx="5669280" cy="100584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ExpensePilot</a:t>
            </a:r>
            <a:endParaRPr lang="en-US" sz="5400" dirty="0"/>
          </a:p>
        </p:txBody>
      </p:sp>
      <p:sp>
        <p:nvSpPr>
          <p:cNvPr id="4" name="Text 2"/>
          <p:cNvSpPr txBox="1"/>
          <p:nvPr/>
        </p:nvSpPr>
        <p:spPr>
          <a:xfrm>
            <a:off x="548640" y="2788920"/>
            <a:ext cx="5212080" cy="868680"/>
          </a:xfrm>
          <a:prstGeom prst="rect">
            <a:avLst/>
          </a:prstGeom>
          <a:noFill/>
          <a:ln/>
        </p:spPr>
        <p:txBody>
          <a:bodyPr wrap="square" lIns="0" tIns="0" rIns="0" bIns="0" rtlCol="0" anchor="t"/>
          <a:lstStyle/>
          <a:p>
            <a:pPr indent="0" marL="0">
              <a:buNone/>
            </a:pPr>
            <a:r>
              <a:rPr lang="en-US" sz="1900" dirty="0">
                <a:solidFill>
                  <a:schemeClr val="tx2"/>
                </a:solidFill>
              </a:rPr>
              <a:t>A personal expense tracker, taken from a git push all the way to Kubernetes on AWS</a:t>
            </a:r>
            <a:endParaRPr lang="en-US" sz="1900" dirty="0"/>
          </a:p>
        </p:txBody>
      </p:sp>
      <p:sp>
        <p:nvSpPr>
          <p:cNvPr id="5" name="Text 3"/>
          <p:cNvSpPr txBox="1"/>
          <p:nvPr/>
        </p:nvSpPr>
        <p:spPr>
          <a:xfrm>
            <a:off x="548640" y="4160520"/>
            <a:ext cx="5120640" cy="411480"/>
          </a:xfrm>
          <a:prstGeom prst="rect">
            <a:avLst/>
          </a:prstGeom>
          <a:noFill/>
          <a:ln/>
        </p:spPr>
        <p:txBody>
          <a:bodyPr wrap="square" lIns="0" tIns="0" rIns="0" bIns="0" rtlCol="0" anchor="ctr"/>
          <a:lstStyle/>
          <a:p>
            <a:pPr indent="0" marL="0">
              <a:buNone/>
            </a:pPr>
            <a:r>
              <a:rPr lang="en-US" sz="2200" b="1" dirty="0">
                <a:solidFill>
                  <a:schemeClr val="tx1"/>
                </a:solidFill>
                <a:latin typeface="Arial" pitchFamily="34" charset="0"/>
                <a:ea typeface="Arial" pitchFamily="34" charset="-122"/>
                <a:cs typeface="Arial" pitchFamily="34" charset="-120"/>
              </a:rPr>
              <a:t>Akshat Sipany</a:t>
            </a:r>
            <a:endParaRPr lang="en-US" sz="2200" dirty="0"/>
          </a:p>
        </p:txBody>
      </p:sp>
      <p:sp>
        <p:nvSpPr>
          <p:cNvPr id="6" name="Text 4">
            <a:hlinkClick r:id="rId1" tooltip=""/>
          </p:cNvPr>
          <p:cNvSpPr txBox="1"/>
          <p:nvPr/>
        </p:nvSpPr>
        <p:spPr>
          <a:xfrm>
            <a:off x="548640" y="4572000"/>
            <a:ext cx="5486400" cy="320040"/>
          </a:xfrm>
          <a:prstGeom prst="rect">
            <a:avLst/>
          </a:prstGeom>
          <a:noFill/>
          <a:ln/>
        </p:spPr>
        <p:txBody>
          <a:bodyPr wrap="square" lIns="0" tIns="0" rIns="0" bIns="0" rtlCol="0" anchor="ctr"/>
          <a:lstStyle/>
          <a:p>
            <a:pPr indent="0" marL="0">
              <a:buNone/>
            </a:pPr>
            <a:r>
              <a:rPr lang="en-US" sz="1300" u="sng" dirty="0">
                <a:solidFill>
                  <a:schemeClr val="accent4"/>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github.com/akshat-code21/final-devops-project</a:t>
            </a:r>
            <a:endParaRPr lang="en-US" sz="1300" dirty="0"/>
          </a:p>
        </p:txBody>
      </p:sp>
      <p:sp>
        <p:nvSpPr>
          <p:cNvPr id="7"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fastapi  react  postgres  docker  actions  trivy  terraform  eks  helm  prometheus  grafana  argocd</a:t>
            </a:r>
            <a:endParaRPr lang="en-US" sz="1100" dirty="0"/>
          </a:p>
        </p:txBody>
      </p:sp>
      <p:sp>
        <p:nvSpPr>
          <p:cNvPr id="8" name="frame dash.jpg"/>
          <p:cNvSpPr/>
          <p:nvPr/>
        </p:nvSpPr>
        <p:spPr>
          <a:xfrm>
            <a:off x="6327648" y="1298448"/>
            <a:ext cx="5358384" cy="3160075"/>
          </a:xfrm>
          <a:prstGeom prst="rect">
            <a:avLst/>
          </a:prstGeom>
          <a:solidFill>
            <a:schemeClr val="accent3"/>
          </a:solidFill>
          <a:ln w="9525">
            <a:solidFill>
              <a:schemeClr val="accent3"/>
            </a:solidFill>
            <a:prstDash val="solid"/>
          </a:ln>
        </p:spPr>
      </p:sp>
      <p:pic>
        <p:nvPicPr>
          <p:cNvPr id="9" name="Image 0" descr="dash.jpg">    </p:cNvPr>
          <p:cNvPicPr>
            <a:picLocks noChangeAspect="1"/>
          </p:cNvPicPr>
          <p:nvPr/>
        </p:nvPicPr>
        <p:blipFill>
          <a:blip r:embed="rId2"/>
          <a:stretch>
            <a:fillRect/>
          </a:stretch>
        </p:blipFill>
        <p:spPr>
          <a:xfrm>
            <a:off x="6355080" y="1325880"/>
            <a:ext cx="5303520" cy="31052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How a commit reaches the cluster</a:t>
            </a:r>
            <a:endParaRPr lang="en-US" sz="3200" dirty="0"/>
          </a:p>
        </p:txBody>
      </p:sp>
      <p:sp>
        <p:nvSpPr>
          <p:cNvPr id="3" name="node git push"/>
          <p:cNvSpPr/>
          <p:nvPr/>
        </p:nvSpPr>
        <p:spPr>
          <a:xfrm>
            <a:off x="548640" y="1463040"/>
            <a:ext cx="1938528" cy="868680"/>
          </a:xfrm>
          <a:prstGeom prst="roundRect">
            <a:avLst>
              <a:gd name="adj" fmla="val 10526"/>
            </a:avLst>
          </a:prstGeom>
          <a:solidFill>
            <a:schemeClr val="accent6"/>
          </a:solidFill>
          <a:ln w="12700">
            <a:solidFill>
              <a:schemeClr val="accent3"/>
            </a:solidFill>
            <a:prstDash val="solid"/>
          </a:ln>
        </p:spPr>
      </p:sp>
      <p:sp>
        <p:nvSpPr>
          <p:cNvPr id="4" name="Text 2"/>
          <p:cNvSpPr txBox="1"/>
          <p:nvPr/>
        </p:nvSpPr>
        <p:spPr>
          <a:xfrm>
            <a:off x="658368" y="1463040"/>
            <a:ext cx="1719072" cy="868680"/>
          </a:xfrm>
          <a:prstGeom prst="rect">
            <a:avLst/>
          </a:prstGeom>
          <a:noFill/>
          <a:ln/>
        </p:spPr>
        <p:txBody>
          <a:bodyPr wrap="square" lIns="0" tIns="0" rIns="0" bIns="0" rtlCol="0" anchor="ctr"/>
          <a:lstStyle/>
          <a:p>
            <a:pPr indent="0" marL="0">
              <a:buNone/>
            </a:pPr>
            <a:r>
              <a:rPr lang="en-US" sz="1400" b="1" dirty="0">
                <a:solidFill>
                  <a:schemeClr val="tx1"/>
                </a:solidFill>
              </a:rPr>
              <a:t>git push</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branch: main</a:t>
            </a:r>
            <a:endParaRPr lang="en-US" sz="1400" dirty="0"/>
          </a:p>
        </p:txBody>
      </p:sp>
      <p:sp>
        <p:nvSpPr>
          <p:cNvPr id="5" name="Shape 3"/>
          <p:cNvSpPr/>
          <p:nvPr/>
        </p:nvSpPr>
        <p:spPr>
          <a:xfrm>
            <a:off x="2523744" y="1897380"/>
            <a:ext cx="265176" cy="0"/>
          </a:xfrm>
          <a:prstGeom prst="line">
            <a:avLst/>
          </a:prstGeom>
          <a:noFill/>
          <a:ln w="19050">
            <a:solidFill>
              <a:schemeClr val="accent1"/>
            </a:solidFill>
            <a:prstDash val="solid"/>
            <a:tailEnd type="triangle"/>
          </a:ln>
        </p:spPr>
      </p:sp>
      <p:sp>
        <p:nvSpPr>
          <p:cNvPr id="6" name="node GitHub Actions"/>
          <p:cNvSpPr/>
          <p:nvPr/>
        </p:nvSpPr>
        <p:spPr>
          <a:xfrm>
            <a:off x="2825496" y="1463040"/>
            <a:ext cx="1938528" cy="868680"/>
          </a:xfrm>
          <a:prstGeom prst="roundRect">
            <a:avLst>
              <a:gd name="adj" fmla="val 10526"/>
            </a:avLst>
          </a:prstGeom>
          <a:solidFill>
            <a:schemeClr val="accent6"/>
          </a:solidFill>
          <a:ln w="12700">
            <a:solidFill>
              <a:schemeClr val="accent3"/>
            </a:solidFill>
            <a:prstDash val="solid"/>
          </a:ln>
        </p:spPr>
      </p:sp>
      <p:sp>
        <p:nvSpPr>
          <p:cNvPr id="7" name="Text 5"/>
          <p:cNvSpPr txBox="1"/>
          <p:nvPr/>
        </p:nvSpPr>
        <p:spPr>
          <a:xfrm>
            <a:off x="2935224" y="1463040"/>
            <a:ext cx="1719072" cy="868680"/>
          </a:xfrm>
          <a:prstGeom prst="rect">
            <a:avLst/>
          </a:prstGeom>
          <a:noFill/>
          <a:ln/>
        </p:spPr>
        <p:txBody>
          <a:bodyPr wrap="square" lIns="0" tIns="0" rIns="0" bIns="0" rtlCol="0" anchor="ctr"/>
          <a:lstStyle/>
          <a:p>
            <a:pPr indent="0" marL="0">
              <a:buNone/>
            </a:pPr>
            <a:r>
              <a:rPr lang="en-US" sz="1400" b="1" dirty="0">
                <a:solidFill>
                  <a:schemeClr val="tx1"/>
                </a:solidFill>
              </a:rPr>
              <a:t>GitHub Actions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test, scan, build</a:t>
            </a:r>
            <a:endParaRPr lang="en-US" sz="1400" dirty="0"/>
          </a:p>
        </p:txBody>
      </p:sp>
      <p:sp>
        <p:nvSpPr>
          <p:cNvPr id="8" name="Shape 6"/>
          <p:cNvSpPr/>
          <p:nvPr/>
        </p:nvSpPr>
        <p:spPr>
          <a:xfrm>
            <a:off x="4800600" y="1897380"/>
            <a:ext cx="265176" cy="0"/>
          </a:xfrm>
          <a:prstGeom prst="line">
            <a:avLst/>
          </a:prstGeom>
          <a:noFill/>
          <a:ln w="19050">
            <a:solidFill>
              <a:schemeClr val="accent1"/>
            </a:solidFill>
            <a:prstDash val="solid"/>
            <a:tailEnd type="triangle"/>
          </a:ln>
        </p:spPr>
      </p:sp>
      <p:sp>
        <p:nvSpPr>
          <p:cNvPr id="9" name="node Trivy gate"/>
          <p:cNvSpPr/>
          <p:nvPr/>
        </p:nvSpPr>
        <p:spPr>
          <a:xfrm>
            <a:off x="5102352" y="1463040"/>
            <a:ext cx="1938528" cy="868680"/>
          </a:xfrm>
          <a:prstGeom prst="roundRect">
            <a:avLst>
              <a:gd name="adj" fmla="val 10526"/>
            </a:avLst>
          </a:prstGeom>
          <a:solidFill>
            <a:schemeClr val="bg2"/>
          </a:solidFill>
          <a:ln w="12700">
            <a:solidFill>
              <a:schemeClr val="accent3"/>
            </a:solidFill>
            <a:prstDash val="solid"/>
          </a:ln>
        </p:spPr>
      </p:sp>
      <p:sp>
        <p:nvSpPr>
          <p:cNvPr id="10" name="Text 8"/>
          <p:cNvSpPr txBox="1"/>
          <p:nvPr/>
        </p:nvSpPr>
        <p:spPr>
          <a:xfrm>
            <a:off x="5212080" y="1463040"/>
            <a:ext cx="1719072" cy="868680"/>
          </a:xfrm>
          <a:prstGeom prst="rect">
            <a:avLst/>
          </a:prstGeom>
          <a:noFill/>
          <a:ln/>
        </p:spPr>
        <p:txBody>
          <a:bodyPr wrap="square" lIns="0" tIns="0" rIns="0" bIns="0" rtlCol="0" anchor="ctr"/>
          <a:lstStyle/>
          <a:p>
            <a:pPr indent="0" marL="0">
              <a:buNone/>
            </a:pPr>
            <a:r>
              <a:rPr lang="en-US" sz="1400" b="1" dirty="0">
                <a:solidFill>
                  <a:schemeClr val="tx1"/>
                </a:solidFill>
              </a:rPr>
              <a:t>Trivy gate</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HIGH/CRITICAL fails</a:t>
            </a:r>
            <a:endParaRPr lang="en-US" sz="1400" dirty="0"/>
          </a:p>
        </p:txBody>
      </p:sp>
      <p:sp>
        <p:nvSpPr>
          <p:cNvPr id="11" name="Shape 9"/>
          <p:cNvSpPr/>
          <p:nvPr/>
        </p:nvSpPr>
        <p:spPr>
          <a:xfrm>
            <a:off x="7077456" y="1897380"/>
            <a:ext cx="265176" cy="0"/>
          </a:xfrm>
          <a:prstGeom prst="line">
            <a:avLst/>
          </a:prstGeom>
          <a:noFill/>
          <a:ln w="19050">
            <a:solidFill>
              <a:schemeClr val="accent1"/>
            </a:solidFill>
            <a:prstDash val="solid"/>
            <a:tailEnd type="triangle"/>
          </a:ln>
        </p:spPr>
      </p:sp>
      <p:sp>
        <p:nvSpPr>
          <p:cNvPr id="12" name="node GHCR"/>
          <p:cNvSpPr/>
          <p:nvPr/>
        </p:nvSpPr>
        <p:spPr>
          <a:xfrm>
            <a:off x="7379208" y="1463040"/>
            <a:ext cx="1938528" cy="868680"/>
          </a:xfrm>
          <a:prstGeom prst="roundRect">
            <a:avLst>
              <a:gd name="adj" fmla="val 10526"/>
            </a:avLst>
          </a:prstGeom>
          <a:solidFill>
            <a:schemeClr val="accent6"/>
          </a:solidFill>
          <a:ln w="12700">
            <a:solidFill>
              <a:schemeClr val="accent3"/>
            </a:solidFill>
            <a:prstDash val="solid"/>
          </a:ln>
        </p:spPr>
      </p:sp>
      <p:sp>
        <p:nvSpPr>
          <p:cNvPr id="13" name="Text 11"/>
          <p:cNvSpPr txBox="1"/>
          <p:nvPr/>
        </p:nvSpPr>
        <p:spPr>
          <a:xfrm>
            <a:off x="7488936" y="1463040"/>
            <a:ext cx="1719072" cy="868680"/>
          </a:xfrm>
          <a:prstGeom prst="rect">
            <a:avLst/>
          </a:prstGeom>
          <a:noFill/>
          <a:ln/>
        </p:spPr>
        <p:txBody>
          <a:bodyPr wrap="square" lIns="0" tIns="0" rIns="0" bIns="0" rtlCol="0" anchor="ctr"/>
          <a:lstStyle/>
          <a:p>
            <a:pPr indent="0" marL="0">
              <a:buNone/>
            </a:pPr>
            <a:r>
              <a:rPr lang="en-US" sz="1400" b="1" dirty="0">
                <a:solidFill>
                  <a:schemeClr val="tx1"/>
                </a:solidFill>
              </a:rPr>
              <a:t>GHCR</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image:&lt;commit sha&gt;</a:t>
            </a:r>
            <a:endParaRPr lang="en-US" sz="1400" dirty="0"/>
          </a:p>
        </p:txBody>
      </p:sp>
      <p:sp>
        <p:nvSpPr>
          <p:cNvPr id="14" name="Shape 12"/>
          <p:cNvSpPr/>
          <p:nvPr/>
        </p:nvSpPr>
        <p:spPr>
          <a:xfrm>
            <a:off x="9354312" y="1897380"/>
            <a:ext cx="265176" cy="0"/>
          </a:xfrm>
          <a:prstGeom prst="line">
            <a:avLst/>
          </a:prstGeom>
          <a:noFill/>
          <a:ln w="19050">
            <a:solidFill>
              <a:schemeClr val="accent1"/>
            </a:solidFill>
            <a:prstDash val="solid"/>
            <a:tailEnd type="triangle"/>
          </a:ln>
        </p:spPr>
      </p:sp>
      <p:sp>
        <p:nvSpPr>
          <p:cNvPr id="15" name="node Helm + ArgoCD"/>
          <p:cNvSpPr/>
          <p:nvPr/>
        </p:nvSpPr>
        <p:spPr>
          <a:xfrm>
            <a:off x="9656064" y="1463040"/>
            <a:ext cx="1938528" cy="868680"/>
          </a:xfrm>
          <a:prstGeom prst="roundRect">
            <a:avLst>
              <a:gd name="adj" fmla="val 10526"/>
            </a:avLst>
          </a:prstGeom>
          <a:solidFill>
            <a:schemeClr val="accent6"/>
          </a:solidFill>
          <a:ln w="12700">
            <a:solidFill>
              <a:schemeClr val="accent3"/>
            </a:solidFill>
            <a:prstDash val="solid"/>
          </a:ln>
        </p:spPr>
      </p:sp>
      <p:sp>
        <p:nvSpPr>
          <p:cNvPr id="16" name="Text 14"/>
          <p:cNvSpPr txBox="1"/>
          <p:nvPr/>
        </p:nvSpPr>
        <p:spPr>
          <a:xfrm>
            <a:off x="9765792" y="1463040"/>
            <a:ext cx="1719072" cy="868680"/>
          </a:xfrm>
          <a:prstGeom prst="rect">
            <a:avLst/>
          </a:prstGeom>
          <a:noFill/>
          <a:ln/>
        </p:spPr>
        <p:txBody>
          <a:bodyPr wrap="square" lIns="0" tIns="0" rIns="0" bIns="0" rtlCol="0" anchor="ctr"/>
          <a:lstStyle/>
          <a:p>
            <a:pPr indent="0" marL="0">
              <a:buNone/>
            </a:pPr>
            <a:r>
              <a:rPr lang="en-US" sz="1400" b="1" dirty="0">
                <a:solidFill>
                  <a:schemeClr val="tx1"/>
                </a:solidFill>
              </a:rPr>
              <a:t>Helm + ArgoCD</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upgrade --install</a:t>
            </a:r>
            <a:endParaRPr lang="en-US" sz="1400" dirty="0"/>
          </a:p>
        </p:txBody>
      </p:sp>
      <p:sp>
        <p:nvSpPr>
          <p:cNvPr id="17" name="cluster"/>
          <p:cNvSpPr/>
          <p:nvPr/>
        </p:nvSpPr>
        <p:spPr>
          <a:xfrm>
            <a:off x="548640" y="2788920"/>
            <a:ext cx="7955280" cy="3429000"/>
          </a:xfrm>
          <a:prstGeom prst="roundRect">
            <a:avLst>
              <a:gd name="adj" fmla="val 2667"/>
            </a:avLst>
          </a:prstGeom>
          <a:solidFill>
            <a:schemeClr val="bg2"/>
          </a:solidFill>
          <a:ln w="12700">
            <a:solidFill>
              <a:schemeClr val="accent3"/>
            </a:solidFill>
            <a:prstDash val="solid"/>
          </a:ln>
        </p:spPr>
      </p:sp>
      <p:sp>
        <p:nvSpPr>
          <p:cNvPr id="18" name="Text 16"/>
          <p:cNvSpPr txBox="1"/>
          <p:nvPr/>
        </p:nvSpPr>
        <p:spPr>
          <a:xfrm>
            <a:off x="777240" y="2926080"/>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kubernetes  /  namespace: expensepilot</a:t>
            </a:r>
            <a:endParaRPr lang="en-US" sz="1100" dirty="0"/>
          </a:p>
        </p:txBody>
      </p:sp>
      <p:sp>
        <p:nvSpPr>
          <p:cNvPr id="19" name="node Ingress"/>
          <p:cNvSpPr/>
          <p:nvPr/>
        </p:nvSpPr>
        <p:spPr>
          <a:xfrm>
            <a:off x="777240" y="3794760"/>
            <a:ext cx="1828800" cy="914400"/>
          </a:xfrm>
          <a:prstGeom prst="roundRect">
            <a:avLst>
              <a:gd name="adj" fmla="val 10000"/>
            </a:avLst>
          </a:prstGeom>
          <a:solidFill>
            <a:schemeClr val="accent6"/>
          </a:solidFill>
          <a:ln w="12700">
            <a:solidFill>
              <a:schemeClr val="accent3"/>
            </a:solidFill>
            <a:prstDash val="solid"/>
          </a:ln>
        </p:spPr>
      </p:sp>
      <p:sp>
        <p:nvSpPr>
          <p:cNvPr id="20" name="Text 18"/>
          <p:cNvSpPr txBox="1"/>
          <p:nvPr/>
        </p:nvSpPr>
        <p:spPr>
          <a:xfrm>
            <a:off x="886968" y="3794760"/>
            <a:ext cx="1609344" cy="914400"/>
          </a:xfrm>
          <a:prstGeom prst="rect">
            <a:avLst/>
          </a:prstGeom>
          <a:noFill/>
          <a:ln/>
        </p:spPr>
        <p:txBody>
          <a:bodyPr wrap="square" lIns="0" tIns="0" rIns="0" bIns="0" rtlCol="0" anchor="ctr"/>
          <a:lstStyle/>
          <a:p>
            <a:pPr indent="0" marL="0">
              <a:buNone/>
            </a:pPr>
            <a:r>
              <a:rPr lang="en-US" sz="1400" b="1" dirty="0">
                <a:solidFill>
                  <a:schemeClr val="tx1"/>
                </a:solidFill>
              </a:rPr>
              <a:t>Ingress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expensepilot.local</a:t>
            </a:r>
            <a:endParaRPr lang="en-US" sz="1400" dirty="0"/>
          </a:p>
        </p:txBody>
      </p:sp>
      <p:sp>
        <p:nvSpPr>
          <p:cNvPr id="21" name="node frontend x2"/>
          <p:cNvSpPr/>
          <p:nvPr/>
        </p:nvSpPr>
        <p:spPr>
          <a:xfrm>
            <a:off x="3246120" y="3291840"/>
            <a:ext cx="2240280" cy="777240"/>
          </a:xfrm>
          <a:prstGeom prst="roundRect">
            <a:avLst>
              <a:gd name="adj" fmla="val 11765"/>
            </a:avLst>
          </a:prstGeom>
          <a:solidFill>
            <a:schemeClr val="accent6"/>
          </a:solidFill>
          <a:ln w="12700">
            <a:solidFill>
              <a:schemeClr val="accent3"/>
            </a:solidFill>
            <a:prstDash val="solid"/>
          </a:ln>
        </p:spPr>
      </p:sp>
      <p:sp>
        <p:nvSpPr>
          <p:cNvPr id="22" name="Text 20"/>
          <p:cNvSpPr txBox="1"/>
          <p:nvPr/>
        </p:nvSpPr>
        <p:spPr>
          <a:xfrm>
            <a:off x="3355848" y="3291840"/>
            <a:ext cx="2020824" cy="777240"/>
          </a:xfrm>
          <a:prstGeom prst="rect">
            <a:avLst/>
          </a:prstGeom>
          <a:noFill/>
          <a:ln/>
        </p:spPr>
        <p:txBody>
          <a:bodyPr wrap="square" lIns="0" tIns="0" rIns="0" bIns="0" rtlCol="0" anchor="ctr"/>
          <a:lstStyle/>
          <a:p>
            <a:pPr indent="0" marL="0">
              <a:buNone/>
            </a:pPr>
            <a:r>
              <a:rPr lang="en-US" sz="1400" b="1" dirty="0">
                <a:solidFill>
                  <a:schemeClr val="tx1"/>
                </a:solidFill>
              </a:rPr>
              <a:t>frontend x2</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nginx :8080</a:t>
            </a:r>
            <a:endParaRPr lang="en-US" sz="1400" dirty="0"/>
          </a:p>
        </p:txBody>
      </p:sp>
      <p:sp>
        <p:nvSpPr>
          <p:cNvPr id="23" name="node backend x2"/>
          <p:cNvSpPr/>
          <p:nvPr/>
        </p:nvSpPr>
        <p:spPr>
          <a:xfrm>
            <a:off x="3246120" y="4297680"/>
            <a:ext cx="2240280" cy="777240"/>
          </a:xfrm>
          <a:prstGeom prst="roundRect">
            <a:avLst>
              <a:gd name="adj" fmla="val 11765"/>
            </a:avLst>
          </a:prstGeom>
          <a:solidFill>
            <a:schemeClr val="accent6"/>
          </a:solidFill>
          <a:ln w="12700">
            <a:solidFill>
              <a:schemeClr val="accent3"/>
            </a:solidFill>
            <a:prstDash val="solid"/>
          </a:ln>
        </p:spPr>
      </p:sp>
      <p:sp>
        <p:nvSpPr>
          <p:cNvPr id="24" name="Text 22"/>
          <p:cNvSpPr txBox="1"/>
          <p:nvPr/>
        </p:nvSpPr>
        <p:spPr>
          <a:xfrm>
            <a:off x="3355848" y="4297680"/>
            <a:ext cx="2020824" cy="777240"/>
          </a:xfrm>
          <a:prstGeom prst="rect">
            <a:avLst/>
          </a:prstGeom>
          <a:noFill/>
          <a:ln/>
        </p:spPr>
        <p:txBody>
          <a:bodyPr wrap="square" lIns="0" tIns="0" rIns="0" bIns="0" rtlCol="0" anchor="ctr"/>
          <a:lstStyle/>
          <a:p>
            <a:pPr indent="0" marL="0">
              <a:buNone/>
            </a:pPr>
            <a:r>
              <a:rPr lang="en-US" sz="1400" b="1" dirty="0">
                <a:solidFill>
                  <a:schemeClr val="tx1"/>
                </a:solidFill>
              </a:rPr>
              <a:t>backend x2</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fastapi, HPA 2-6</a:t>
            </a:r>
            <a:endParaRPr lang="en-US" sz="1400" dirty="0"/>
          </a:p>
        </p:txBody>
      </p:sp>
      <p:sp>
        <p:nvSpPr>
          <p:cNvPr id="25" name="node postgres"/>
          <p:cNvSpPr/>
          <p:nvPr/>
        </p:nvSpPr>
        <p:spPr>
          <a:xfrm>
            <a:off x="6035040" y="4297680"/>
            <a:ext cx="2240280" cy="777240"/>
          </a:xfrm>
          <a:prstGeom prst="roundRect">
            <a:avLst>
              <a:gd name="adj" fmla="val 11765"/>
            </a:avLst>
          </a:prstGeom>
          <a:solidFill>
            <a:schemeClr val="accent6"/>
          </a:solidFill>
          <a:ln w="12700">
            <a:solidFill>
              <a:schemeClr val="accent3"/>
            </a:solidFill>
            <a:prstDash val="solid"/>
          </a:ln>
        </p:spPr>
      </p:sp>
      <p:sp>
        <p:nvSpPr>
          <p:cNvPr id="26" name="Text 24"/>
          <p:cNvSpPr txBox="1"/>
          <p:nvPr/>
        </p:nvSpPr>
        <p:spPr>
          <a:xfrm>
            <a:off x="6144768" y="4297680"/>
            <a:ext cx="2020824" cy="777240"/>
          </a:xfrm>
          <a:prstGeom prst="rect">
            <a:avLst/>
          </a:prstGeom>
          <a:noFill/>
          <a:ln/>
        </p:spPr>
        <p:txBody>
          <a:bodyPr wrap="square" lIns="0" tIns="0" rIns="0" bIns="0" rtlCol="0" anchor="ctr"/>
          <a:lstStyle/>
          <a:p>
            <a:pPr indent="0" marL="0">
              <a:buNone/>
            </a:pPr>
            <a:r>
              <a:rPr lang="en-US" sz="1400" b="1" dirty="0">
                <a:solidFill>
                  <a:schemeClr val="tx1"/>
                </a:solidFill>
              </a:rPr>
              <a:t>postgres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PVC 5Gi</a:t>
            </a:r>
            <a:endParaRPr lang="en-US" sz="1400" dirty="0"/>
          </a:p>
        </p:txBody>
      </p:sp>
      <p:sp>
        <p:nvSpPr>
          <p:cNvPr id="27" name="node Prometheus"/>
          <p:cNvSpPr/>
          <p:nvPr/>
        </p:nvSpPr>
        <p:spPr>
          <a:xfrm>
            <a:off x="3246120" y="5303520"/>
            <a:ext cx="2240280" cy="777240"/>
          </a:xfrm>
          <a:prstGeom prst="roundRect">
            <a:avLst>
              <a:gd name="adj" fmla="val 11765"/>
            </a:avLst>
          </a:prstGeom>
          <a:solidFill>
            <a:schemeClr val="accent6"/>
          </a:solidFill>
          <a:ln w="12700">
            <a:solidFill>
              <a:schemeClr val="accent3"/>
            </a:solidFill>
            <a:prstDash val="solid"/>
          </a:ln>
        </p:spPr>
      </p:sp>
      <p:sp>
        <p:nvSpPr>
          <p:cNvPr id="28" name="Text 26"/>
          <p:cNvSpPr txBox="1"/>
          <p:nvPr/>
        </p:nvSpPr>
        <p:spPr>
          <a:xfrm>
            <a:off x="3355848" y="5303520"/>
            <a:ext cx="2020824" cy="777240"/>
          </a:xfrm>
          <a:prstGeom prst="rect">
            <a:avLst/>
          </a:prstGeom>
          <a:noFill/>
          <a:ln/>
        </p:spPr>
        <p:txBody>
          <a:bodyPr wrap="square" lIns="0" tIns="0" rIns="0" bIns="0" rtlCol="0" anchor="ctr"/>
          <a:lstStyle/>
          <a:p>
            <a:pPr indent="0" marL="0">
              <a:buNone/>
            </a:pPr>
            <a:r>
              <a:rPr lang="en-US" sz="1400" b="1" dirty="0">
                <a:solidFill>
                  <a:schemeClr val="tx1"/>
                </a:solidFill>
              </a:rPr>
              <a:t>Prometheus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scrapes /metrics</a:t>
            </a:r>
            <a:endParaRPr lang="en-US" sz="1400" dirty="0"/>
          </a:p>
        </p:txBody>
      </p:sp>
      <p:sp>
        <p:nvSpPr>
          <p:cNvPr id="29" name="node Grafana"/>
          <p:cNvSpPr/>
          <p:nvPr/>
        </p:nvSpPr>
        <p:spPr>
          <a:xfrm>
            <a:off x="6035040" y="5303520"/>
            <a:ext cx="2240280" cy="777240"/>
          </a:xfrm>
          <a:prstGeom prst="roundRect">
            <a:avLst>
              <a:gd name="adj" fmla="val 11765"/>
            </a:avLst>
          </a:prstGeom>
          <a:solidFill>
            <a:schemeClr val="accent6"/>
          </a:solidFill>
          <a:ln w="12700">
            <a:solidFill>
              <a:schemeClr val="accent3"/>
            </a:solidFill>
            <a:prstDash val="solid"/>
          </a:ln>
        </p:spPr>
      </p:sp>
      <p:sp>
        <p:nvSpPr>
          <p:cNvPr id="30" name="Text 28"/>
          <p:cNvSpPr txBox="1"/>
          <p:nvPr/>
        </p:nvSpPr>
        <p:spPr>
          <a:xfrm>
            <a:off x="6144768" y="5303520"/>
            <a:ext cx="2020824" cy="777240"/>
          </a:xfrm>
          <a:prstGeom prst="rect">
            <a:avLst/>
          </a:prstGeom>
          <a:noFill/>
          <a:ln/>
        </p:spPr>
        <p:txBody>
          <a:bodyPr wrap="square" lIns="0" tIns="0" rIns="0" bIns="0" rtlCol="0" anchor="ctr"/>
          <a:lstStyle/>
          <a:p>
            <a:pPr indent="0" marL="0">
              <a:buNone/>
            </a:pPr>
            <a:r>
              <a:rPr lang="en-US" sz="1400" b="1" dirty="0">
                <a:solidFill>
                  <a:schemeClr val="tx1"/>
                </a:solidFill>
              </a:rPr>
              <a:t>Grafana</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dashboard + alerts</a:t>
            </a:r>
            <a:endParaRPr lang="en-US" sz="1400" dirty="0"/>
          </a:p>
        </p:txBody>
      </p:sp>
      <p:sp>
        <p:nvSpPr>
          <p:cNvPr id="31" name="Shape 29"/>
          <p:cNvSpPr/>
          <p:nvPr/>
        </p:nvSpPr>
        <p:spPr>
          <a:xfrm flipV="1">
            <a:off x="2642616" y="3685032"/>
            <a:ext cx="566928" cy="384048"/>
          </a:xfrm>
          <a:prstGeom prst="line">
            <a:avLst/>
          </a:prstGeom>
          <a:noFill/>
          <a:ln w="19050">
            <a:solidFill>
              <a:schemeClr val="accent1"/>
            </a:solidFill>
            <a:prstDash val="solid"/>
            <a:tailEnd type="triangle"/>
          </a:ln>
        </p:spPr>
      </p:sp>
      <p:sp>
        <p:nvSpPr>
          <p:cNvPr id="32" name="Shape 30"/>
          <p:cNvSpPr/>
          <p:nvPr/>
        </p:nvSpPr>
        <p:spPr>
          <a:xfrm>
            <a:off x="2642616" y="4434840"/>
            <a:ext cx="566928" cy="246888"/>
          </a:xfrm>
          <a:prstGeom prst="line">
            <a:avLst/>
          </a:prstGeom>
          <a:noFill/>
          <a:ln w="19050">
            <a:solidFill>
              <a:schemeClr val="accent1"/>
            </a:solidFill>
            <a:prstDash val="solid"/>
            <a:tailEnd type="triangle"/>
          </a:ln>
        </p:spPr>
      </p:sp>
      <p:sp>
        <p:nvSpPr>
          <p:cNvPr id="33" name="Text 31"/>
          <p:cNvSpPr txBox="1"/>
          <p:nvPr/>
        </p:nvSpPr>
        <p:spPr>
          <a:xfrm>
            <a:off x="2697480" y="3364992"/>
            <a:ext cx="365760" cy="25603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t>
            </a:r>
            <a:endParaRPr lang="en-US" sz="1200" dirty="0"/>
          </a:p>
        </p:txBody>
      </p:sp>
      <p:sp>
        <p:nvSpPr>
          <p:cNvPr id="34" name="Text 32"/>
          <p:cNvSpPr txBox="1"/>
          <p:nvPr/>
        </p:nvSpPr>
        <p:spPr>
          <a:xfrm>
            <a:off x="2670048" y="4681728"/>
            <a:ext cx="548640" cy="25603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/api</a:t>
            </a:r>
            <a:endParaRPr lang="en-US" sz="1200" dirty="0"/>
          </a:p>
        </p:txBody>
      </p:sp>
      <p:sp>
        <p:nvSpPr>
          <p:cNvPr id="35" name="Shape 33"/>
          <p:cNvSpPr/>
          <p:nvPr/>
        </p:nvSpPr>
        <p:spPr>
          <a:xfrm>
            <a:off x="5522976" y="4681728"/>
            <a:ext cx="475488" cy="0"/>
          </a:xfrm>
          <a:prstGeom prst="line">
            <a:avLst/>
          </a:prstGeom>
          <a:noFill/>
          <a:ln w="19050">
            <a:solidFill>
              <a:schemeClr val="accent1"/>
            </a:solidFill>
            <a:prstDash val="solid"/>
            <a:tailEnd type="triangle"/>
          </a:ln>
        </p:spPr>
      </p:sp>
      <p:sp>
        <p:nvSpPr>
          <p:cNvPr id="36" name="Shape 34"/>
          <p:cNvSpPr/>
          <p:nvPr/>
        </p:nvSpPr>
        <p:spPr>
          <a:xfrm flipV="1">
            <a:off x="4366260" y="5102352"/>
            <a:ext cx="0" cy="182880"/>
          </a:xfrm>
          <a:prstGeom prst="line">
            <a:avLst/>
          </a:prstGeom>
          <a:noFill/>
          <a:ln w="19050">
            <a:solidFill>
              <a:schemeClr val="accent1"/>
            </a:solidFill>
            <a:prstDash val="solid"/>
            <a:tailEnd type="triangle"/>
          </a:ln>
        </p:spPr>
      </p:sp>
      <p:sp>
        <p:nvSpPr>
          <p:cNvPr id="37" name="Shape 35"/>
          <p:cNvSpPr/>
          <p:nvPr/>
        </p:nvSpPr>
        <p:spPr>
          <a:xfrm>
            <a:off x="5522976" y="5687568"/>
            <a:ext cx="475488" cy="0"/>
          </a:xfrm>
          <a:prstGeom prst="line">
            <a:avLst/>
          </a:prstGeom>
          <a:noFill/>
          <a:ln w="19050">
            <a:solidFill>
              <a:schemeClr val="accent1"/>
            </a:solidFill>
            <a:prstDash val="solid"/>
            <a:tailEnd type="triangle"/>
          </a:ln>
        </p:spPr>
      </p:sp>
      <p:sp>
        <p:nvSpPr>
          <p:cNvPr id="38" name="Shape 36"/>
          <p:cNvSpPr/>
          <p:nvPr/>
        </p:nvSpPr>
        <p:spPr>
          <a:xfrm flipH="1">
            <a:off x="8549640" y="2359152"/>
            <a:ext cx="1417320" cy="411480"/>
          </a:xfrm>
          <a:prstGeom prst="line">
            <a:avLst/>
          </a:prstGeom>
          <a:noFill/>
          <a:ln w="19050">
            <a:solidFill>
              <a:schemeClr val="accent1"/>
            </a:solidFill>
            <a:prstDash val="solid"/>
            <a:tailEnd type="triangle"/>
          </a:ln>
        </p:spPr>
      </p:sp>
      <p:sp>
        <p:nvSpPr>
          <p:cNvPr id="39" name="aws"/>
          <p:cNvSpPr/>
          <p:nvPr/>
        </p:nvSpPr>
        <p:spPr>
          <a:xfrm>
            <a:off x="8869680" y="2788920"/>
            <a:ext cx="2770632" cy="3429000"/>
          </a:xfrm>
          <a:prstGeom prst="roundRect">
            <a:avLst>
              <a:gd name="adj" fmla="val 3300"/>
            </a:avLst>
          </a:prstGeom>
          <a:solidFill>
            <a:schemeClr val="bg2"/>
          </a:solidFill>
          <a:ln w="12700">
            <a:solidFill>
              <a:schemeClr val="accent3"/>
            </a:solidFill>
            <a:prstDash val="solid"/>
          </a:ln>
        </p:spPr>
      </p:sp>
      <p:sp>
        <p:nvSpPr>
          <p:cNvPr id="40" name="Text 38"/>
          <p:cNvSpPr txBox="1"/>
          <p:nvPr/>
        </p:nvSpPr>
        <p:spPr>
          <a:xfrm>
            <a:off x="9098280" y="2926080"/>
            <a:ext cx="237744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aws  /  ap-south-1</a:t>
            </a:r>
            <a:endParaRPr lang="en-US" sz="1100" dirty="0"/>
          </a:p>
        </p:txBody>
      </p:sp>
      <p:sp>
        <p:nvSpPr>
          <p:cNvPr id="41" name="Text 39"/>
          <p:cNvSpPr txBox="1"/>
          <p:nvPr/>
        </p:nvSpPr>
        <p:spPr>
          <a:xfrm>
            <a:off x="9098280" y="3246120"/>
            <a:ext cx="2377440" cy="365760"/>
          </a:xfrm>
          <a:prstGeom prst="rect">
            <a:avLst/>
          </a:prstGeom>
          <a:noFill/>
          <a:ln/>
        </p:spPr>
        <p:txBody>
          <a:bodyPr wrap="square" lIns="0" tIns="0" rIns="0" bIns="0" rtlCol="0" anchor="ctr"/>
          <a:lstStyle/>
          <a:p>
            <a:pPr indent="0" marL="0">
              <a:buNone/>
            </a:pPr>
            <a:r>
              <a:rPr lang="en-US" sz="1800" b="1" dirty="0">
                <a:solidFill>
                  <a:schemeClr val="accent1"/>
                </a:solidFill>
              </a:rPr>
              <a:t>Terraform</a:t>
            </a:r>
            <a:endParaRPr lang="en-US" sz="1800" dirty="0"/>
          </a:p>
        </p:txBody>
      </p:sp>
      <p:sp>
        <p:nvSpPr>
          <p:cNvPr id="42" name="Text 40"/>
          <p:cNvSpPr txBox="1"/>
          <p:nvPr/>
        </p:nvSpPr>
        <p:spPr>
          <a:xfrm>
            <a:off x="9098280" y="3703320"/>
            <a:ext cx="2423160" cy="22860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VPC 10.20.0.0/16</a:t>
            </a:r>
            <a:endParaRPr lang="en-US" sz="1400" dirty="0"/>
          </a:p>
          <a:p>
            <a:pPr indent="0" marL="0">
              <a:spcAft>
                <a:spcPts val="600"/>
              </a:spcAft>
              <a:buNone/>
            </a:pPr>
            <a:r>
              <a:rPr lang="en-US" sz="1400" dirty="0">
                <a:solidFill>
                  <a:schemeClr val="tx1"/>
                </a:solidFill>
              </a:rPr>
              <a:t>2 public + 2 private subnets</a:t>
            </a:r>
            <a:endParaRPr lang="en-US" sz="1400" dirty="0"/>
          </a:p>
          <a:p>
            <a:pPr indent="0" marL="0">
              <a:spcAft>
                <a:spcPts val="600"/>
              </a:spcAft>
              <a:buNone/>
            </a:pPr>
            <a:r>
              <a:rPr lang="en-US" sz="1400" dirty="0">
                <a:solidFill>
                  <a:schemeClr val="tx1"/>
                </a:solidFill>
              </a:rPr>
              <a:t>NAT gateway</a:t>
            </a:r>
            <a:endParaRPr lang="en-US" sz="1400" dirty="0"/>
          </a:p>
          <a:p>
            <a:pPr indent="0" marL="0">
              <a:spcAft>
                <a:spcPts val="600"/>
              </a:spcAft>
              <a:buNone/>
            </a:pPr>
            <a:r>
              <a:rPr lang="en-US" sz="1400" dirty="0">
                <a:solidFill>
                  <a:schemeClr val="tx1"/>
                </a:solidFill>
              </a:rPr>
              <a:t>EKS 1.31</a:t>
            </a:r>
            <a:endParaRPr lang="en-US" sz="1400" dirty="0"/>
          </a:p>
          <a:p>
            <a:pPr indent="0" marL="0">
              <a:spcAft>
                <a:spcPts val="600"/>
              </a:spcAft>
              <a:buNone/>
            </a:pPr>
            <a:r>
              <a:rPr lang="en-US" sz="1400" dirty="0">
                <a:solidFill>
                  <a:schemeClr val="tx1"/>
                </a:solidFill>
              </a:rPr>
              <a:t>node group: t3.micro x2</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The app: log, approve and pay expenses</a:t>
            </a:r>
            <a:endParaRPr lang="en-US" sz="3200" dirty="0"/>
          </a:p>
        </p:txBody>
      </p:sp>
      <p:sp>
        <p:nvSpPr>
          <p:cNvPr id="3" name="icon circle React 18 + Vite"/>
          <p:cNvSpPr/>
          <p:nvPr/>
        </p:nvSpPr>
        <p:spPr>
          <a:xfrm>
            <a:off x="548640" y="1554480"/>
            <a:ext cx="603504" cy="603504"/>
          </a:xfrm>
          <a:prstGeom prst="ellipse">
            <a:avLst/>
          </a:prstGeom>
          <a:solidFill>
            <a:schemeClr val="bg2"/>
          </a:solidFill>
          <a:ln w="12700">
            <a:solidFill>
              <a:schemeClr val="accent3"/>
            </a:solidFill>
            <a:prstDash val="solid"/>
          </a:ln>
        </p:spPr>
      </p:sp>
      <p:pic>
        <p:nvPicPr>
          <p:cNvPr id="4" name="Image 0" descr="React 18 + Vite">    </p:cNvPr>
          <p:cNvPicPr>
            <a:picLocks noChangeAspect="1"/>
          </p:cNvPicPr>
          <p:nvPr/>
        </p:nvPicPr>
        <p:blipFill>
          <a:blip r:embed="rId1"/>
          <a:stretch>
            <a:fillRect/>
          </a:stretch>
        </p:blipFill>
        <p:spPr>
          <a:xfrm>
            <a:off x="685800" y="1691640"/>
            <a:ext cx="329184" cy="329184"/>
          </a:xfrm>
          <a:prstGeom prst="rect">
            <a:avLst/>
          </a:prstGeom>
        </p:spPr>
      </p:pic>
      <p:sp>
        <p:nvSpPr>
          <p:cNvPr id="5" name="Text 2"/>
          <p:cNvSpPr txBox="1"/>
          <p:nvPr/>
        </p:nvSpPr>
        <p:spPr>
          <a:xfrm>
            <a:off x="1325880" y="1508760"/>
            <a:ext cx="4297680" cy="731520"/>
          </a:xfrm>
          <a:prstGeom prst="rect">
            <a:avLst/>
          </a:prstGeom>
          <a:noFill/>
          <a:ln/>
        </p:spPr>
        <p:txBody>
          <a:bodyPr wrap="square" lIns="0" tIns="0" rIns="0" bIns="0" rtlCol="0" anchor="ctr"/>
          <a:lstStyle/>
          <a:p>
            <a:pPr indent="0" marL="0">
              <a:buNone/>
            </a:pPr>
            <a:r>
              <a:rPr lang="en-US" sz="1700" b="1" dirty="0">
                <a:solidFill>
                  <a:schemeClr val="tx1"/>
                </a:solidFill>
              </a:rPr>
              <a:t>React 18 + Vite</a:t>
            </a:r>
            <a:endParaRPr lang="en-US" sz="1700" dirty="0"/>
          </a:p>
          <a:p>
            <a:pPr indent="0" marL="0">
              <a:buNone/>
            </a:pPr>
            <a:r>
              <a:rPr lang="en-US" sz="1400" dirty="0">
                <a:solidFill>
                  <a:schemeClr val="tx2"/>
                </a:solidFill>
              </a:rPr>
              <a:t>Dashboard with totals, filters, add / edit / delete</a:t>
            </a:r>
            <a:endParaRPr lang="en-US" sz="1700" dirty="0"/>
          </a:p>
        </p:txBody>
      </p:sp>
      <p:sp>
        <p:nvSpPr>
          <p:cNvPr id="6" name="icon circle FastAPI on Python 3.12"/>
          <p:cNvSpPr/>
          <p:nvPr/>
        </p:nvSpPr>
        <p:spPr>
          <a:xfrm>
            <a:off x="548640" y="2468880"/>
            <a:ext cx="603504" cy="603504"/>
          </a:xfrm>
          <a:prstGeom prst="ellipse">
            <a:avLst/>
          </a:prstGeom>
          <a:solidFill>
            <a:schemeClr val="bg2"/>
          </a:solidFill>
          <a:ln w="12700">
            <a:solidFill>
              <a:schemeClr val="accent3"/>
            </a:solidFill>
            <a:prstDash val="solid"/>
          </a:ln>
        </p:spPr>
      </p:sp>
      <p:pic>
        <p:nvPicPr>
          <p:cNvPr id="7" name="Image 1" descr="FastAPI on Python 3.12">    </p:cNvPr>
          <p:cNvPicPr>
            <a:picLocks noChangeAspect="1"/>
          </p:cNvPicPr>
          <p:nvPr/>
        </p:nvPicPr>
        <p:blipFill>
          <a:blip r:embed="rId2"/>
          <a:stretch>
            <a:fillRect/>
          </a:stretch>
        </p:blipFill>
        <p:spPr>
          <a:xfrm>
            <a:off x="685800" y="2606040"/>
            <a:ext cx="329184" cy="329184"/>
          </a:xfrm>
          <a:prstGeom prst="rect">
            <a:avLst/>
          </a:prstGeom>
        </p:spPr>
      </p:pic>
      <p:sp>
        <p:nvSpPr>
          <p:cNvPr id="8" name="Text 4"/>
          <p:cNvSpPr txBox="1"/>
          <p:nvPr/>
        </p:nvSpPr>
        <p:spPr>
          <a:xfrm>
            <a:off x="1325880" y="2423160"/>
            <a:ext cx="4297680" cy="731520"/>
          </a:xfrm>
          <a:prstGeom prst="rect">
            <a:avLst/>
          </a:prstGeom>
          <a:noFill/>
          <a:ln/>
        </p:spPr>
        <p:txBody>
          <a:bodyPr wrap="square" lIns="0" tIns="0" rIns="0" bIns="0" rtlCol="0" anchor="ctr"/>
          <a:lstStyle/>
          <a:p>
            <a:pPr indent="0" marL="0">
              <a:buNone/>
            </a:pPr>
            <a:r>
              <a:rPr lang="en-US" sz="1700" b="1" dirty="0">
                <a:solidFill>
                  <a:schemeClr val="tx1"/>
                </a:solidFill>
              </a:rPr>
              <a:t>FastAPI on Python 3.12</a:t>
            </a:r>
            <a:endParaRPr lang="en-US" sz="1700" dirty="0"/>
          </a:p>
          <a:p>
            <a:pPr indent="0" marL="0">
              <a:buNone/>
            </a:pPr>
            <a:r>
              <a:rPr lang="en-US" sz="1400" dirty="0">
                <a:solidFill>
                  <a:schemeClr val="tx2"/>
                </a:solidFill>
              </a:rPr>
              <a:t>REST API with OpenAPI docs, /health and /ready probes</a:t>
            </a:r>
            <a:endParaRPr lang="en-US" sz="1700" dirty="0"/>
          </a:p>
        </p:txBody>
      </p:sp>
      <p:sp>
        <p:nvSpPr>
          <p:cNvPr id="9" name="icon circle PostgreSQL 16 + Alembic"/>
          <p:cNvSpPr/>
          <p:nvPr/>
        </p:nvSpPr>
        <p:spPr>
          <a:xfrm>
            <a:off x="548640" y="3383280"/>
            <a:ext cx="603504" cy="603504"/>
          </a:xfrm>
          <a:prstGeom prst="ellipse">
            <a:avLst/>
          </a:prstGeom>
          <a:solidFill>
            <a:schemeClr val="bg2"/>
          </a:solidFill>
          <a:ln w="12700">
            <a:solidFill>
              <a:schemeClr val="accent3"/>
            </a:solidFill>
            <a:prstDash val="solid"/>
          </a:ln>
        </p:spPr>
      </p:sp>
      <p:pic>
        <p:nvPicPr>
          <p:cNvPr id="10" name="Image 2" descr="PostgreSQL 16 + Alembic">    </p:cNvPr>
          <p:cNvPicPr>
            <a:picLocks noChangeAspect="1"/>
          </p:cNvPicPr>
          <p:nvPr/>
        </p:nvPicPr>
        <p:blipFill>
          <a:blip r:embed="rId3"/>
          <a:stretch>
            <a:fillRect/>
          </a:stretch>
        </p:blipFill>
        <p:spPr>
          <a:xfrm>
            <a:off x="685800" y="3520440"/>
            <a:ext cx="329184" cy="329184"/>
          </a:xfrm>
          <a:prstGeom prst="rect">
            <a:avLst/>
          </a:prstGeom>
        </p:spPr>
      </p:pic>
      <p:sp>
        <p:nvSpPr>
          <p:cNvPr id="11" name="Text 6"/>
          <p:cNvSpPr txBox="1"/>
          <p:nvPr/>
        </p:nvSpPr>
        <p:spPr>
          <a:xfrm>
            <a:off x="1325880" y="3337560"/>
            <a:ext cx="4297680" cy="731520"/>
          </a:xfrm>
          <a:prstGeom prst="rect">
            <a:avLst/>
          </a:prstGeom>
          <a:noFill/>
          <a:ln/>
        </p:spPr>
        <p:txBody>
          <a:bodyPr wrap="square" lIns="0" tIns="0" rIns="0" bIns="0" rtlCol="0" anchor="ctr"/>
          <a:lstStyle/>
          <a:p>
            <a:pPr indent="0" marL="0">
              <a:buNone/>
            </a:pPr>
            <a:r>
              <a:rPr lang="en-US" sz="1700" b="1" dirty="0">
                <a:solidFill>
                  <a:schemeClr val="tx1"/>
                </a:solidFill>
              </a:rPr>
              <a:t>PostgreSQL 16 + Alembic</a:t>
            </a:r>
            <a:endParaRPr lang="en-US" sz="1700" dirty="0"/>
          </a:p>
          <a:p>
            <a:pPr indent="0" marL="0">
              <a:buNone/>
            </a:pPr>
            <a:r>
              <a:rPr lang="en-US" sz="1400" dirty="0">
                <a:solidFill>
                  <a:schemeClr val="tx2"/>
                </a:solidFill>
              </a:rPr>
              <a:t>expenses table created by versioned migrations</a:t>
            </a:r>
            <a:endParaRPr lang="en-US" sz="1700" dirty="0"/>
          </a:p>
        </p:txBody>
      </p:sp>
      <p:sp>
        <p:nvSpPr>
          <p:cNvPr id="12" name="Text 7"/>
          <p:cNvSpPr txBox="1"/>
          <p:nvPr/>
        </p:nvSpPr>
        <p:spPr>
          <a:xfrm>
            <a:off x="548640" y="4434840"/>
            <a:ext cx="155448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10</a:t>
            </a:r>
            <a:endParaRPr lang="en-US" sz="4400" dirty="0"/>
          </a:p>
        </p:txBody>
      </p:sp>
      <p:sp>
        <p:nvSpPr>
          <p:cNvPr id="13" name="Text 8"/>
          <p:cNvSpPr txBox="1"/>
          <p:nvPr/>
        </p:nvSpPr>
        <p:spPr>
          <a:xfrm>
            <a:off x="548640" y="5212080"/>
            <a:ext cx="1554480" cy="457200"/>
          </a:xfrm>
          <a:prstGeom prst="rect">
            <a:avLst/>
          </a:prstGeom>
          <a:noFill/>
          <a:ln/>
        </p:spPr>
        <p:txBody>
          <a:bodyPr wrap="square" lIns="0" tIns="0" rIns="0" bIns="0" rtlCol="0" anchor="t"/>
          <a:lstStyle/>
          <a:p>
            <a:pPr indent="0" marL="0">
              <a:buNone/>
            </a:pPr>
            <a:r>
              <a:rPr lang="en-US" sz="1300" dirty="0">
                <a:solidFill>
                  <a:schemeClr val="tx2"/>
                </a:solidFill>
              </a:rPr>
              <a:t>API routes</a:t>
            </a:r>
            <a:endParaRPr lang="en-US" sz="1300" dirty="0"/>
          </a:p>
        </p:txBody>
      </p:sp>
      <p:sp>
        <p:nvSpPr>
          <p:cNvPr id="14" name="Text 9"/>
          <p:cNvSpPr txBox="1"/>
          <p:nvPr/>
        </p:nvSpPr>
        <p:spPr>
          <a:xfrm>
            <a:off x="2240280" y="4434840"/>
            <a:ext cx="155448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4</a:t>
            </a:r>
            <a:endParaRPr lang="en-US" sz="4400" dirty="0"/>
          </a:p>
        </p:txBody>
      </p:sp>
      <p:sp>
        <p:nvSpPr>
          <p:cNvPr id="15" name="Text 10"/>
          <p:cNvSpPr txBox="1"/>
          <p:nvPr/>
        </p:nvSpPr>
        <p:spPr>
          <a:xfrm>
            <a:off x="2240280" y="5212080"/>
            <a:ext cx="1554480" cy="457200"/>
          </a:xfrm>
          <a:prstGeom prst="rect">
            <a:avLst/>
          </a:prstGeom>
          <a:noFill/>
          <a:ln/>
        </p:spPr>
        <p:txBody>
          <a:bodyPr wrap="square" lIns="0" tIns="0" rIns="0" bIns="0" rtlCol="0" anchor="t"/>
          <a:lstStyle/>
          <a:p>
            <a:pPr indent="0" marL="0">
              <a:buNone/>
            </a:pPr>
            <a:r>
              <a:rPr lang="en-US" sz="1300" dirty="0">
                <a:solidFill>
                  <a:schemeClr val="tx2"/>
                </a:solidFill>
              </a:rPr>
              <a:t>CRUD verbs</a:t>
            </a:r>
            <a:endParaRPr lang="en-US" sz="1300" dirty="0"/>
          </a:p>
        </p:txBody>
      </p:sp>
      <p:sp>
        <p:nvSpPr>
          <p:cNvPr id="16" name="Text 11"/>
          <p:cNvSpPr txBox="1"/>
          <p:nvPr/>
        </p:nvSpPr>
        <p:spPr>
          <a:xfrm>
            <a:off x="3931920" y="4434840"/>
            <a:ext cx="1554480" cy="77724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2</a:t>
            </a:r>
            <a:endParaRPr lang="en-US" sz="4400" dirty="0"/>
          </a:p>
        </p:txBody>
      </p:sp>
      <p:sp>
        <p:nvSpPr>
          <p:cNvPr id="17" name="Text 12"/>
          <p:cNvSpPr txBox="1"/>
          <p:nvPr/>
        </p:nvSpPr>
        <p:spPr>
          <a:xfrm>
            <a:off x="3931920" y="5212080"/>
            <a:ext cx="1554480" cy="457200"/>
          </a:xfrm>
          <a:prstGeom prst="rect">
            <a:avLst/>
          </a:prstGeom>
          <a:noFill/>
          <a:ln/>
        </p:spPr>
        <p:txBody>
          <a:bodyPr wrap="square" lIns="0" tIns="0" rIns="0" bIns="0" rtlCol="0" anchor="t"/>
          <a:lstStyle/>
          <a:p>
            <a:pPr indent="0" marL="0">
              <a:buNone/>
            </a:pPr>
            <a:r>
              <a:rPr lang="en-US" sz="1300" dirty="0">
                <a:solidFill>
                  <a:schemeClr val="tx2"/>
                </a:solidFill>
              </a:rPr>
              <a:t>Alembic migrations</a:t>
            </a:r>
            <a:endParaRPr lang="en-US" sz="1300" dirty="0"/>
          </a:p>
        </p:txBody>
      </p:sp>
      <p:sp>
        <p:nvSpPr>
          <p:cNvPr id="18" name="Text 13"/>
          <p:cNvSpPr txBox="1"/>
          <p:nvPr/>
        </p:nvSpPr>
        <p:spPr>
          <a:xfrm>
            <a:off x="6035040" y="1234440"/>
            <a:ext cx="36576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localhost:8000/docs</a:t>
            </a:r>
            <a:endParaRPr lang="en-US" sz="1100" dirty="0"/>
          </a:p>
        </p:txBody>
      </p:sp>
      <p:sp>
        <p:nvSpPr>
          <p:cNvPr id="19" name="frame swagger.jpg"/>
          <p:cNvSpPr/>
          <p:nvPr/>
        </p:nvSpPr>
        <p:spPr>
          <a:xfrm>
            <a:off x="6007608" y="1527048"/>
            <a:ext cx="5660136" cy="3355746"/>
          </a:xfrm>
          <a:prstGeom prst="rect">
            <a:avLst/>
          </a:prstGeom>
          <a:solidFill>
            <a:schemeClr val="accent3"/>
          </a:solidFill>
          <a:ln w="9525">
            <a:solidFill>
              <a:schemeClr val="accent3"/>
            </a:solidFill>
            <a:prstDash val="solid"/>
          </a:ln>
        </p:spPr>
      </p:sp>
      <p:pic>
        <p:nvPicPr>
          <p:cNvPr id="20" name="Image 3" descr="swagger.jpg">    </p:cNvPr>
          <p:cNvPicPr>
            <a:picLocks noChangeAspect="1"/>
          </p:cNvPicPr>
          <p:nvPr/>
        </p:nvPicPr>
        <p:blipFill>
          <a:blip r:embed="rId4"/>
          <a:stretch>
            <a:fillRect/>
          </a:stretch>
        </p:blipFill>
        <p:spPr>
          <a:xfrm>
            <a:off x="6035040" y="1554480"/>
            <a:ext cx="5605272" cy="3300882"/>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Tests run before anything is built</a:t>
            </a:r>
            <a:endParaRPr lang="en-US" sz="3200" dirty="0"/>
          </a:p>
        </p:txBody>
      </p:sp>
      <p:sp>
        <p:nvSpPr>
          <p:cNvPr id="3" name="Text 1"/>
          <p:cNvSpPr txBox="1"/>
          <p:nvPr/>
        </p:nvSpPr>
        <p:spPr>
          <a:xfrm>
            <a:off x="548640" y="1325880"/>
            <a:ext cx="3200400" cy="1097280"/>
          </a:xfrm>
          <a:prstGeom prst="rect">
            <a:avLst/>
          </a:prstGeom>
          <a:noFill/>
          <a:ln/>
        </p:spPr>
        <p:txBody>
          <a:bodyPr wrap="square" lIns="0" tIns="0" rIns="0" bIns="0" rtlCol="0" anchor="ctr"/>
          <a:lstStyle/>
          <a:p>
            <a:pPr indent="0" marL="0">
              <a:buNone/>
            </a:pPr>
            <a:r>
              <a:rPr lang="en-US" sz="7200" b="1" dirty="0">
                <a:solidFill>
                  <a:schemeClr val="accent2"/>
                </a:solidFill>
                <a:latin typeface="Arial" pitchFamily="34" charset="0"/>
                <a:ea typeface="Arial" pitchFamily="34" charset="-122"/>
                <a:cs typeface="Arial" pitchFamily="34" charset="-120"/>
              </a:rPr>
              <a:t>8/8</a:t>
            </a:r>
            <a:endParaRPr lang="en-US" sz="7200" dirty="0"/>
          </a:p>
        </p:txBody>
      </p:sp>
      <p:sp>
        <p:nvSpPr>
          <p:cNvPr id="4" name="Text 2"/>
          <p:cNvSpPr txBox="1"/>
          <p:nvPr/>
        </p:nvSpPr>
        <p:spPr>
          <a:xfrm>
            <a:off x="548640" y="2423160"/>
            <a:ext cx="3840480" cy="320040"/>
          </a:xfrm>
          <a:prstGeom prst="rect">
            <a:avLst/>
          </a:prstGeom>
          <a:noFill/>
          <a:ln/>
        </p:spPr>
        <p:txBody>
          <a:bodyPr wrap="square" lIns="0" tIns="0" rIns="0" bIns="0" rtlCol="0" anchor="ctr"/>
          <a:lstStyle/>
          <a:p>
            <a:pPr indent="0" marL="0">
              <a:buNone/>
            </a:pPr>
            <a:r>
              <a:rPr lang="en-US" sz="1500" dirty="0">
                <a:solidFill>
                  <a:schemeClr val="tx2"/>
                </a:solidFill>
              </a:rPr>
              <a:t>pytest cases passing in 0.98s</a:t>
            </a:r>
            <a:endParaRPr lang="en-US" sz="1500" dirty="0"/>
          </a:p>
        </p:txBody>
      </p:sp>
      <p:sp>
        <p:nvSpPr>
          <p:cNvPr id="5" name="Text 3"/>
          <p:cNvSpPr txBox="1"/>
          <p:nvPr/>
        </p:nvSpPr>
        <p:spPr>
          <a:xfrm>
            <a:off x="548640" y="3017520"/>
            <a:ext cx="3931920" cy="32004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Covers health, root and all CRUD + stats routes</a:t>
            </a:r>
            <a:endParaRPr lang="en-US" sz="1500" dirty="0"/>
          </a:p>
          <a:p>
            <a:pPr marL="203200" indent="-203200">
              <a:spcAft>
                <a:spcPts val="800"/>
              </a:spcAft>
              <a:buSzPct val="100000"/>
              <a:buChar char="•"/>
            </a:pPr>
            <a:r>
              <a:rPr lang="en-US" sz="1500" dirty="0">
                <a:solidFill>
                  <a:schemeClr val="tx1"/>
                </a:solidFill>
              </a:rPr>
              <a:t>Uses a throwaway SQLite DB via DATABASE_URL, never the real Postgres</a:t>
            </a:r>
            <a:endParaRPr lang="en-US" sz="1500" dirty="0"/>
          </a:p>
          <a:p>
            <a:pPr marL="203200" indent="-203200">
              <a:spcAft>
                <a:spcPts val="800"/>
              </a:spcAft>
              <a:buSzPct val="100000"/>
              <a:buChar char="•"/>
            </a:pPr>
            <a:r>
              <a:rPr lang="en-US" sz="1500" dirty="0">
                <a:solidFill>
                  <a:schemeClr val="tx1"/>
                </a:solidFill>
              </a:rPr>
              <a:t>First job in CI, so a red test stops the pipeline</a:t>
            </a:r>
            <a:endParaRPr lang="en-US" sz="1500" dirty="0"/>
          </a:p>
          <a:p>
            <a:pPr marL="203200" indent="-203200">
              <a:spcAft>
                <a:spcPts val="800"/>
              </a:spcAft>
              <a:buSzPct val="100000"/>
              <a:buChar char="•"/>
            </a:pPr>
            <a:r>
              <a:rPr lang="en-US" sz="1500" dirty="0">
                <a:solidFill>
                  <a:schemeClr val="tx1"/>
                </a:solidFill>
              </a:rPr>
              <a:t>Public repo, 29 commits with feat / fix / chore / docs messages</a:t>
            </a:r>
            <a:endParaRPr lang="en-US" sz="1500" dirty="0"/>
          </a:p>
          <a:p>
            <a:pPr marL="203200" indent="-203200">
              <a:spcAft>
                <a:spcPts val="800"/>
              </a:spcAft>
              <a:buSzPct val="100000"/>
              <a:buChar char="•"/>
            </a:pPr>
            <a:r>
              <a:rPr lang="en-US" sz="1500" dirty="0">
                <a:solidFill>
                  <a:schemeClr val="tx1"/>
                </a:solidFill>
              </a:rPr>
              <a:t>.gitignore keeps out .env, venv, node_modules, tfstate</a:t>
            </a:r>
            <a:endParaRPr lang="en-US" sz="1500" dirty="0"/>
          </a:p>
        </p:txBody>
      </p:sp>
      <p:sp>
        <p:nvSpPr>
          <p:cNvPr id="6" name="Text 4"/>
          <p:cNvSpPr txBox="1"/>
          <p:nvPr/>
        </p:nvSpPr>
        <p:spPr>
          <a:xfrm>
            <a:off x="4892040" y="1234440"/>
            <a:ext cx="36576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pytest -v</a:t>
            </a:r>
            <a:endParaRPr lang="en-US" sz="1100" dirty="0"/>
          </a:p>
        </p:txBody>
      </p:sp>
      <p:sp>
        <p:nvSpPr>
          <p:cNvPr id="7" name="frame pytest.jpg"/>
          <p:cNvSpPr/>
          <p:nvPr/>
        </p:nvSpPr>
        <p:spPr>
          <a:xfrm>
            <a:off x="4864608" y="1527048"/>
            <a:ext cx="6803136" cy="2424257"/>
          </a:xfrm>
          <a:prstGeom prst="rect">
            <a:avLst/>
          </a:prstGeom>
          <a:solidFill>
            <a:schemeClr val="accent3"/>
          </a:solidFill>
          <a:ln w="9525">
            <a:solidFill>
              <a:schemeClr val="accent3"/>
            </a:solidFill>
            <a:prstDash val="solid"/>
          </a:ln>
        </p:spPr>
      </p:sp>
      <p:pic>
        <p:nvPicPr>
          <p:cNvPr id="8" name="Image 0" descr="pytest.jpg">    </p:cNvPr>
          <p:cNvPicPr>
            <a:picLocks noChangeAspect="1"/>
          </p:cNvPicPr>
          <p:nvPr/>
        </p:nvPicPr>
        <p:blipFill>
          <a:blip r:embed="rId1"/>
          <a:stretch>
            <a:fillRect/>
          </a:stretch>
        </p:blipFill>
        <p:spPr>
          <a:xfrm>
            <a:off x="4892040" y="1554480"/>
            <a:ext cx="6748272" cy="2369393"/>
          </a:xfrm>
          <a:prstGeom prst="rect">
            <a:avLst/>
          </a:prstGeom>
        </p:spPr>
      </p:pic>
      <p:sp>
        <p:nvSpPr>
          <p:cNvPr id="9" name="Text 6"/>
          <p:cNvSpPr txBox="1"/>
          <p:nvPr/>
        </p:nvSpPr>
        <p:spPr>
          <a:xfrm>
            <a:off x="4892040" y="4224528"/>
            <a:ext cx="36576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git log --oneline</a:t>
            </a:r>
            <a:endParaRPr lang="en-US" sz="1100" dirty="0"/>
          </a:p>
        </p:txBody>
      </p:sp>
      <p:sp>
        <p:nvSpPr>
          <p:cNvPr id="10" name="frame gitlog.jpg"/>
          <p:cNvSpPr/>
          <p:nvPr/>
        </p:nvSpPr>
        <p:spPr>
          <a:xfrm>
            <a:off x="4864608" y="4517136"/>
            <a:ext cx="6803136" cy="1256056"/>
          </a:xfrm>
          <a:prstGeom prst="rect">
            <a:avLst/>
          </a:prstGeom>
          <a:solidFill>
            <a:schemeClr val="accent3"/>
          </a:solidFill>
          <a:ln w="9525">
            <a:solidFill>
              <a:schemeClr val="accent3"/>
            </a:solidFill>
            <a:prstDash val="solid"/>
          </a:ln>
        </p:spPr>
      </p:sp>
      <p:pic>
        <p:nvPicPr>
          <p:cNvPr id="11" name="Image 1" descr="gitlog.jpg">    </p:cNvPr>
          <p:cNvPicPr>
            <a:picLocks noChangeAspect="1"/>
          </p:cNvPicPr>
          <p:nvPr/>
        </p:nvPicPr>
        <p:blipFill>
          <a:blip r:embed="rId2"/>
          <a:stretch>
            <a:fillRect/>
          </a:stretch>
        </p:blipFill>
        <p:spPr>
          <a:xfrm>
            <a:off x="4892040" y="4544568"/>
            <a:ext cx="6748272" cy="1201192"/>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Three containers, one command</a:t>
            </a:r>
            <a:endParaRPr lang="en-US" sz="3200" dirty="0"/>
          </a:p>
        </p:txBody>
      </p:sp>
      <p:sp>
        <p:nvSpPr>
          <p:cNvPr id="3" name="docker card backend/Dockerfile"/>
          <p:cNvSpPr/>
          <p:nvPr/>
        </p:nvSpPr>
        <p:spPr>
          <a:xfrm>
            <a:off x="548640" y="1463040"/>
            <a:ext cx="3511296" cy="2743200"/>
          </a:xfrm>
          <a:prstGeom prst="roundRect">
            <a:avLst>
              <a:gd name="adj" fmla="val 3333"/>
            </a:avLst>
          </a:prstGeom>
          <a:solidFill>
            <a:schemeClr val="bg2"/>
          </a:solidFill>
          <a:ln w="12700">
            <a:solidFill>
              <a:schemeClr val="accent3"/>
            </a:solidFill>
            <a:prstDash val="solid"/>
          </a:ln>
        </p:spPr>
      </p:sp>
      <p:sp>
        <p:nvSpPr>
          <p:cNvPr id="4" name="Text 2"/>
          <p:cNvSpPr txBox="1"/>
          <p:nvPr/>
        </p:nvSpPr>
        <p:spPr>
          <a:xfrm>
            <a:off x="777240" y="1645920"/>
            <a:ext cx="3054096"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backend/Dockerfile</a:t>
            </a:r>
            <a:endParaRPr lang="en-US" sz="1200" dirty="0"/>
          </a:p>
        </p:txBody>
      </p:sp>
      <p:sp>
        <p:nvSpPr>
          <p:cNvPr id="5" name="Text 3"/>
          <p:cNvSpPr txBox="1"/>
          <p:nvPr/>
        </p:nvSpPr>
        <p:spPr>
          <a:xfrm>
            <a:off x="777240" y="1965960"/>
            <a:ext cx="3054096"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python:3.12-slim</a:t>
            </a:r>
            <a:endParaRPr lang="en-US" sz="1900" dirty="0"/>
          </a:p>
        </p:txBody>
      </p:sp>
      <p:sp>
        <p:nvSpPr>
          <p:cNvPr id="6" name="Text 4"/>
          <p:cNvSpPr txBox="1"/>
          <p:nvPr/>
        </p:nvSpPr>
        <p:spPr>
          <a:xfrm>
            <a:off x="777240" y="2560320"/>
            <a:ext cx="3054096" cy="1554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Runs as non-root UID 10001</a:t>
            </a:r>
            <a:endParaRPr lang="en-US" sz="1400" dirty="0"/>
          </a:p>
          <a:p>
            <a:pPr marL="203200" indent="-203200">
              <a:spcAft>
                <a:spcPts val="800"/>
              </a:spcAft>
              <a:buSzPct val="100000"/>
              <a:buChar char="•"/>
            </a:pPr>
            <a:r>
              <a:rPr lang="en-US" sz="1400" dirty="0">
                <a:solidFill>
                  <a:schemeClr val="tx1"/>
                </a:solidFill>
              </a:rPr>
              <a:t>OS packages patched at build</a:t>
            </a:r>
            <a:endParaRPr lang="en-US" sz="1400" dirty="0"/>
          </a:p>
          <a:p>
            <a:pPr marL="203200" indent="-203200">
              <a:spcAft>
                <a:spcPts val="800"/>
              </a:spcAft>
              <a:buSzPct val="100000"/>
              <a:buChar char="•"/>
            </a:pPr>
            <a:r>
              <a:rPr lang="en-US" sz="1400" dirty="0">
                <a:solidFill>
                  <a:schemeClr val="tx1"/>
                </a:solidFill>
              </a:rPr>
              <a:t>alembic upgrade head, then uvicorn</a:t>
            </a:r>
            <a:endParaRPr lang="en-US" sz="1400" dirty="0"/>
          </a:p>
        </p:txBody>
      </p:sp>
      <p:sp>
        <p:nvSpPr>
          <p:cNvPr id="7" name="docker card frontend/Dockerfile"/>
          <p:cNvSpPr/>
          <p:nvPr/>
        </p:nvSpPr>
        <p:spPr>
          <a:xfrm>
            <a:off x="4334256" y="1463040"/>
            <a:ext cx="3511296" cy="2743200"/>
          </a:xfrm>
          <a:prstGeom prst="roundRect">
            <a:avLst>
              <a:gd name="adj" fmla="val 3333"/>
            </a:avLst>
          </a:prstGeom>
          <a:solidFill>
            <a:schemeClr val="bg2"/>
          </a:solidFill>
          <a:ln w="12700">
            <a:solidFill>
              <a:schemeClr val="accent3"/>
            </a:solidFill>
            <a:prstDash val="solid"/>
          </a:ln>
        </p:spPr>
      </p:sp>
      <p:sp>
        <p:nvSpPr>
          <p:cNvPr id="8" name="Text 6"/>
          <p:cNvSpPr txBox="1"/>
          <p:nvPr/>
        </p:nvSpPr>
        <p:spPr>
          <a:xfrm>
            <a:off x="4562856" y="1645920"/>
            <a:ext cx="3054096"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frontend/Dockerfile</a:t>
            </a:r>
            <a:endParaRPr lang="en-US" sz="1200" dirty="0"/>
          </a:p>
        </p:txBody>
      </p:sp>
      <p:sp>
        <p:nvSpPr>
          <p:cNvPr id="9" name="Text 7"/>
          <p:cNvSpPr txBox="1"/>
          <p:nvPr/>
        </p:nvSpPr>
        <p:spPr>
          <a:xfrm>
            <a:off x="4562856" y="1965960"/>
            <a:ext cx="3054096"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node:22 → nginx:1.27</a:t>
            </a:r>
            <a:endParaRPr lang="en-US" sz="1900" dirty="0"/>
          </a:p>
        </p:txBody>
      </p:sp>
      <p:sp>
        <p:nvSpPr>
          <p:cNvPr id="10" name="Text 8"/>
          <p:cNvSpPr txBox="1"/>
          <p:nvPr/>
        </p:nvSpPr>
        <p:spPr>
          <a:xfrm>
            <a:off x="4562856" y="2560320"/>
            <a:ext cx="3054096" cy="1554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Stage 1 builds the Vite bundle</a:t>
            </a:r>
            <a:endParaRPr lang="en-US" sz="1400" dirty="0"/>
          </a:p>
          <a:p>
            <a:pPr marL="203200" indent="-203200">
              <a:spcAft>
                <a:spcPts val="800"/>
              </a:spcAft>
              <a:buSzPct val="100000"/>
              <a:buChar char="•"/>
            </a:pPr>
            <a:r>
              <a:rPr lang="en-US" sz="1400" dirty="0">
                <a:solidFill>
                  <a:schemeClr val="tx1"/>
                </a:solidFill>
              </a:rPr>
              <a:t>Stage 2 ships only dist/</a:t>
            </a:r>
            <a:endParaRPr lang="en-US" sz="1400" dirty="0"/>
          </a:p>
          <a:p>
            <a:pPr marL="203200" indent="-203200">
              <a:spcAft>
                <a:spcPts val="800"/>
              </a:spcAft>
              <a:buSzPct val="100000"/>
              <a:buChar char="•"/>
            </a:pPr>
            <a:r>
              <a:rPr lang="en-US" sz="1400" dirty="0">
                <a:solidFill>
                  <a:schemeClr val="tx1"/>
                </a:solidFill>
              </a:rPr>
              <a:t>Non-root appuser on port 8080</a:t>
            </a:r>
            <a:endParaRPr lang="en-US" sz="1400" dirty="0"/>
          </a:p>
        </p:txBody>
      </p:sp>
      <p:sp>
        <p:nvSpPr>
          <p:cNvPr id="11" name="docker card docker-compose.yml"/>
          <p:cNvSpPr/>
          <p:nvPr/>
        </p:nvSpPr>
        <p:spPr>
          <a:xfrm>
            <a:off x="8119872" y="1463040"/>
            <a:ext cx="3511296" cy="2743200"/>
          </a:xfrm>
          <a:prstGeom prst="roundRect">
            <a:avLst>
              <a:gd name="adj" fmla="val 3333"/>
            </a:avLst>
          </a:prstGeom>
          <a:solidFill>
            <a:schemeClr val="bg2"/>
          </a:solidFill>
          <a:ln w="12700">
            <a:solidFill>
              <a:schemeClr val="accent3"/>
            </a:solidFill>
            <a:prstDash val="solid"/>
          </a:ln>
        </p:spPr>
      </p:sp>
      <p:sp>
        <p:nvSpPr>
          <p:cNvPr id="12" name="Text 10"/>
          <p:cNvSpPr txBox="1"/>
          <p:nvPr/>
        </p:nvSpPr>
        <p:spPr>
          <a:xfrm>
            <a:off x="8348472" y="1645920"/>
            <a:ext cx="3054096"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docker-compose.yml</a:t>
            </a:r>
            <a:endParaRPr lang="en-US" sz="1200" dirty="0"/>
          </a:p>
        </p:txBody>
      </p:sp>
      <p:sp>
        <p:nvSpPr>
          <p:cNvPr id="13" name="Text 11"/>
          <p:cNvSpPr txBox="1"/>
          <p:nvPr/>
        </p:nvSpPr>
        <p:spPr>
          <a:xfrm>
            <a:off x="8348472" y="1965960"/>
            <a:ext cx="3054096"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postgres + api + ui</a:t>
            </a:r>
            <a:endParaRPr lang="en-US" sz="1900" dirty="0"/>
          </a:p>
        </p:txBody>
      </p:sp>
      <p:sp>
        <p:nvSpPr>
          <p:cNvPr id="14" name="Text 12"/>
          <p:cNvSpPr txBox="1"/>
          <p:nvPr/>
        </p:nvSpPr>
        <p:spPr>
          <a:xfrm>
            <a:off x="8348472" y="2560320"/>
            <a:ext cx="3054096" cy="1554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Backend waits for postgres healthcheck</a:t>
            </a:r>
            <a:endParaRPr lang="en-US" sz="1400" dirty="0"/>
          </a:p>
          <a:p>
            <a:pPr marL="203200" indent="-203200">
              <a:spcAft>
                <a:spcPts val="800"/>
              </a:spcAft>
              <a:buSzPct val="100000"/>
              <a:buChar char="•"/>
            </a:pPr>
            <a:r>
              <a:rPr lang="en-US" sz="1400" dirty="0">
                <a:solidFill>
                  <a:schemeClr val="tx1"/>
                </a:solidFill>
              </a:rPr>
              <a:t>Named volume keeps the data</a:t>
            </a:r>
            <a:endParaRPr lang="en-US" sz="1400" dirty="0"/>
          </a:p>
          <a:p>
            <a:pPr marL="203200" indent="-203200">
              <a:spcAft>
                <a:spcPts val="800"/>
              </a:spcAft>
              <a:buSzPct val="100000"/>
              <a:buChar char="•"/>
            </a:pPr>
            <a:r>
              <a:rPr lang="en-US" sz="1400" dirty="0">
                <a:solidFill>
                  <a:schemeClr val="tx1"/>
                </a:solidFill>
              </a:rPr>
              <a:t>UI on localhost:3000</a:t>
            </a:r>
            <a:endParaRPr lang="en-US" sz="1400" dirty="0"/>
          </a:p>
        </p:txBody>
      </p:sp>
      <p:sp>
        <p:nvSpPr>
          <p:cNvPr id="15" name="Text 13"/>
          <p:cNvSpPr txBox="1"/>
          <p:nvPr/>
        </p:nvSpPr>
        <p:spPr>
          <a:xfrm>
            <a:off x="548640" y="4526280"/>
            <a:ext cx="45720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docker compose up --build</a:t>
            </a:r>
            <a:endParaRPr lang="en-US" sz="1100" dirty="0"/>
          </a:p>
        </p:txBody>
      </p:sp>
      <p:sp>
        <p:nvSpPr>
          <p:cNvPr id="16" name="frame compose.jpg"/>
          <p:cNvSpPr/>
          <p:nvPr/>
        </p:nvSpPr>
        <p:spPr>
          <a:xfrm>
            <a:off x="521208" y="4818888"/>
            <a:ext cx="6214744" cy="1426464"/>
          </a:xfrm>
          <a:prstGeom prst="rect">
            <a:avLst/>
          </a:prstGeom>
          <a:solidFill>
            <a:schemeClr val="accent3"/>
          </a:solidFill>
          <a:ln w="9525">
            <a:solidFill>
              <a:schemeClr val="accent3"/>
            </a:solidFill>
            <a:prstDash val="solid"/>
          </a:ln>
        </p:spPr>
      </p:sp>
      <p:pic>
        <p:nvPicPr>
          <p:cNvPr id="17" name="Image 0" descr="compose.jpg">    </p:cNvPr>
          <p:cNvPicPr>
            <a:picLocks noChangeAspect="1"/>
          </p:cNvPicPr>
          <p:nvPr/>
        </p:nvPicPr>
        <p:blipFill>
          <a:blip r:embed="rId1"/>
          <a:stretch>
            <a:fillRect/>
          </a:stretch>
        </p:blipFill>
        <p:spPr>
          <a:xfrm>
            <a:off x="548640" y="4846320"/>
            <a:ext cx="6159880" cy="1371600"/>
          </a:xfrm>
          <a:prstGeom prst="rect">
            <a:avLst/>
          </a:prstGeom>
        </p:spPr>
      </p:pic>
      <p:sp>
        <p:nvSpPr>
          <p:cNvPr id="18" name="Text 15"/>
          <p:cNvSpPr txBox="1"/>
          <p:nvPr/>
        </p:nvSpPr>
        <p:spPr>
          <a:xfrm>
            <a:off x="7132320" y="4846320"/>
            <a:ext cx="4507992" cy="1371600"/>
          </a:xfrm>
          <a:prstGeom prst="rect">
            <a:avLst/>
          </a:prstGeom>
          <a:noFill/>
          <a:ln/>
        </p:spPr>
        <p:txBody>
          <a:bodyPr wrap="square" lIns="0" tIns="0" rIns="0" bIns="0" rtlCol="0" anchor="ctr"/>
          <a:lstStyle/>
          <a:p>
            <a:pPr indent="0" marL="0">
              <a:buNone/>
            </a:pPr>
            <a:r>
              <a:rPr lang="en-US" sz="1500" dirty="0">
                <a:solidFill>
                  <a:schemeClr val="tx2"/>
                </a:solidFill>
              </a:rPr>
              <a:t>All three services build and start. nginx in the frontend container proxies /api to the backend, so the browser only ever talks to one origin.</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Every push to main runs five chained jobs</a:t>
            </a:r>
            <a:endParaRPr lang="en-US" sz="3200" dirty="0"/>
          </a:p>
        </p:txBody>
      </p:sp>
      <p:sp>
        <p:nvSpPr>
          <p:cNvPr id="3" name="job 01"/>
          <p:cNvSpPr/>
          <p:nvPr/>
        </p:nvSpPr>
        <p:spPr>
          <a:xfrm>
            <a:off x="548640" y="1417320"/>
            <a:ext cx="2011680" cy="1051560"/>
          </a:xfrm>
          <a:prstGeom prst="roundRect">
            <a:avLst>
              <a:gd name="adj" fmla="val 8696"/>
            </a:avLst>
          </a:prstGeom>
          <a:solidFill>
            <a:schemeClr val="bg2"/>
          </a:solidFill>
          <a:ln w="12700">
            <a:solidFill>
              <a:schemeClr val="accent3"/>
            </a:solidFill>
            <a:prstDash val="solid"/>
          </a:ln>
        </p:spPr>
      </p:sp>
      <p:sp>
        <p:nvSpPr>
          <p:cNvPr id="4" name="Text 2"/>
          <p:cNvSpPr txBox="1"/>
          <p:nvPr/>
        </p:nvSpPr>
        <p:spPr>
          <a:xfrm>
            <a:off x="685800" y="1417320"/>
            <a:ext cx="1737360" cy="105156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01  </a:t>
            </a:r>
            <a:pPr indent="0" marL="0">
              <a:buNone/>
            </a:pPr>
            <a:r>
              <a:rPr lang="en-US" sz="1500" b="1" dirty="0">
                <a:solidFill>
                  <a:schemeClr val="tx1"/>
                </a:solidFill>
              </a:rPr>
              <a:t>Build &amp; test</a:t>
            </a:r>
            <a:endParaRPr lang="en-US" sz="1300" dirty="0"/>
          </a:p>
          <a:p>
            <a:pPr indent="0" marL="0">
              <a:buNone/>
            </a:pPr>
            <a:r>
              <a:rPr lang="en-US" sz="1100" dirty="0">
                <a:solidFill>
                  <a:schemeClr val="tx2"/>
                </a:solidFill>
                <a:latin typeface="Courier New" pitchFamily="34" charset="0"/>
                <a:ea typeface="Courier New" pitchFamily="34" charset="-122"/>
                <a:cs typeface="Courier New" pitchFamily="34" charset="-120"/>
              </a:rPr>
              <a:t>pytest, npm run build</a:t>
            </a:r>
            <a:endParaRPr lang="en-US" sz="1300" dirty="0"/>
          </a:p>
        </p:txBody>
      </p:sp>
      <p:sp>
        <p:nvSpPr>
          <p:cNvPr id="5" name="Shape 3"/>
          <p:cNvSpPr/>
          <p:nvPr/>
        </p:nvSpPr>
        <p:spPr>
          <a:xfrm>
            <a:off x="2587752" y="1943100"/>
            <a:ext cx="192024" cy="0"/>
          </a:xfrm>
          <a:prstGeom prst="line">
            <a:avLst/>
          </a:prstGeom>
          <a:noFill/>
          <a:ln w="19050">
            <a:solidFill>
              <a:schemeClr val="accent1"/>
            </a:solidFill>
            <a:prstDash val="solid"/>
            <a:tailEnd type="triangle"/>
          </a:ln>
        </p:spPr>
      </p:sp>
      <p:sp>
        <p:nvSpPr>
          <p:cNvPr id="6" name="job 02"/>
          <p:cNvSpPr/>
          <p:nvPr/>
        </p:nvSpPr>
        <p:spPr>
          <a:xfrm>
            <a:off x="2807208" y="1417320"/>
            <a:ext cx="2011680" cy="1051560"/>
          </a:xfrm>
          <a:prstGeom prst="roundRect">
            <a:avLst>
              <a:gd name="adj" fmla="val 8696"/>
            </a:avLst>
          </a:prstGeom>
          <a:solidFill>
            <a:schemeClr val="bg2"/>
          </a:solidFill>
          <a:ln w="12700">
            <a:solidFill>
              <a:schemeClr val="accent3"/>
            </a:solidFill>
            <a:prstDash val="solid"/>
          </a:ln>
        </p:spPr>
      </p:sp>
      <p:sp>
        <p:nvSpPr>
          <p:cNvPr id="7" name="Text 5"/>
          <p:cNvSpPr txBox="1"/>
          <p:nvPr/>
        </p:nvSpPr>
        <p:spPr>
          <a:xfrm>
            <a:off x="2944368" y="1417320"/>
            <a:ext cx="1737360" cy="105156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02  </a:t>
            </a:r>
            <a:pPr indent="0" marL="0">
              <a:buNone/>
            </a:pPr>
            <a:r>
              <a:rPr lang="en-US" sz="1500" b="1" dirty="0">
                <a:solidFill>
                  <a:schemeClr val="tx1"/>
                </a:solidFill>
              </a:rPr>
              <a:t>Security checks</a:t>
            </a:r>
            <a:endParaRPr lang="en-US" sz="1300" dirty="0"/>
          </a:p>
          <a:p>
            <a:pPr indent="0" marL="0">
              <a:buNone/>
            </a:pPr>
            <a:r>
              <a:rPr lang="en-US" sz="1100" dirty="0">
                <a:solidFill>
                  <a:schemeClr val="tx2"/>
                </a:solidFill>
                <a:latin typeface="Courier New" pitchFamily="34" charset="0"/>
                <a:ea typeface="Courier New" pitchFamily="34" charset="-122"/>
                <a:cs typeface="Courier New" pitchFamily="34" charset="-120"/>
              </a:rPr>
              <a:t>gitleaks, bandit, pip-audit</a:t>
            </a:r>
            <a:endParaRPr lang="en-US" sz="1300" dirty="0"/>
          </a:p>
        </p:txBody>
      </p:sp>
      <p:sp>
        <p:nvSpPr>
          <p:cNvPr id="8" name="Shape 6"/>
          <p:cNvSpPr/>
          <p:nvPr/>
        </p:nvSpPr>
        <p:spPr>
          <a:xfrm>
            <a:off x="4846320" y="1943100"/>
            <a:ext cx="192024" cy="0"/>
          </a:xfrm>
          <a:prstGeom prst="line">
            <a:avLst/>
          </a:prstGeom>
          <a:noFill/>
          <a:ln w="19050">
            <a:solidFill>
              <a:schemeClr val="accent1"/>
            </a:solidFill>
            <a:prstDash val="solid"/>
            <a:tailEnd type="triangle"/>
          </a:ln>
        </p:spPr>
      </p:sp>
      <p:sp>
        <p:nvSpPr>
          <p:cNvPr id="9" name="job 03"/>
          <p:cNvSpPr/>
          <p:nvPr/>
        </p:nvSpPr>
        <p:spPr>
          <a:xfrm>
            <a:off x="5065776" y="1417320"/>
            <a:ext cx="2011680" cy="1051560"/>
          </a:xfrm>
          <a:prstGeom prst="roundRect">
            <a:avLst>
              <a:gd name="adj" fmla="val 8696"/>
            </a:avLst>
          </a:prstGeom>
          <a:solidFill>
            <a:schemeClr val="bg2"/>
          </a:solidFill>
          <a:ln w="12700">
            <a:solidFill>
              <a:schemeClr val="accent3"/>
            </a:solidFill>
            <a:prstDash val="solid"/>
          </a:ln>
        </p:spPr>
      </p:sp>
      <p:sp>
        <p:nvSpPr>
          <p:cNvPr id="10" name="Text 8"/>
          <p:cNvSpPr txBox="1"/>
          <p:nvPr/>
        </p:nvSpPr>
        <p:spPr>
          <a:xfrm>
            <a:off x="5202936" y="1417320"/>
            <a:ext cx="1737360" cy="105156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03  </a:t>
            </a:r>
            <a:pPr indent="0" marL="0">
              <a:buNone/>
            </a:pPr>
            <a:r>
              <a:rPr lang="en-US" sz="1500" b="1" dirty="0">
                <a:solidFill>
                  <a:schemeClr val="tx1"/>
                </a:solidFill>
              </a:rPr>
              <a:t>Image gate</a:t>
            </a:r>
            <a:endParaRPr lang="en-US" sz="1300" dirty="0"/>
          </a:p>
          <a:p>
            <a:pPr indent="0" marL="0">
              <a:buNone/>
            </a:pPr>
            <a:r>
              <a:rPr lang="en-US" sz="1100" dirty="0">
                <a:solidFill>
                  <a:schemeClr val="tx2"/>
                </a:solidFill>
                <a:latin typeface="Courier New" pitchFamily="34" charset="0"/>
                <a:ea typeface="Courier New" pitchFamily="34" charset="-122"/>
                <a:cs typeface="Courier New" pitchFamily="34" charset="-120"/>
              </a:rPr>
              <a:t>docker build + trivy</a:t>
            </a:r>
            <a:endParaRPr lang="en-US" sz="1300" dirty="0"/>
          </a:p>
        </p:txBody>
      </p:sp>
      <p:sp>
        <p:nvSpPr>
          <p:cNvPr id="11" name="Shape 9"/>
          <p:cNvSpPr/>
          <p:nvPr/>
        </p:nvSpPr>
        <p:spPr>
          <a:xfrm>
            <a:off x="7104888" y="1943100"/>
            <a:ext cx="192024" cy="0"/>
          </a:xfrm>
          <a:prstGeom prst="line">
            <a:avLst/>
          </a:prstGeom>
          <a:noFill/>
          <a:ln w="19050">
            <a:solidFill>
              <a:schemeClr val="accent1"/>
            </a:solidFill>
            <a:prstDash val="solid"/>
            <a:tailEnd type="triangle"/>
          </a:ln>
        </p:spPr>
      </p:sp>
      <p:sp>
        <p:nvSpPr>
          <p:cNvPr id="12" name="job 04"/>
          <p:cNvSpPr/>
          <p:nvPr/>
        </p:nvSpPr>
        <p:spPr>
          <a:xfrm>
            <a:off x="7324344" y="1417320"/>
            <a:ext cx="2011680" cy="1051560"/>
          </a:xfrm>
          <a:prstGeom prst="roundRect">
            <a:avLst>
              <a:gd name="adj" fmla="val 8696"/>
            </a:avLst>
          </a:prstGeom>
          <a:solidFill>
            <a:schemeClr val="bg2"/>
          </a:solidFill>
          <a:ln w="12700">
            <a:solidFill>
              <a:schemeClr val="accent3"/>
            </a:solidFill>
            <a:prstDash val="solid"/>
          </a:ln>
        </p:spPr>
      </p:sp>
      <p:sp>
        <p:nvSpPr>
          <p:cNvPr id="13" name="Text 11"/>
          <p:cNvSpPr txBox="1"/>
          <p:nvPr/>
        </p:nvSpPr>
        <p:spPr>
          <a:xfrm>
            <a:off x="7461504" y="1417320"/>
            <a:ext cx="1737360" cy="105156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04  </a:t>
            </a:r>
            <a:pPr indent="0" marL="0">
              <a:buNone/>
            </a:pPr>
            <a:r>
              <a:rPr lang="en-US" sz="1500" b="1" dirty="0">
                <a:solidFill>
                  <a:schemeClr val="tx1"/>
                </a:solidFill>
              </a:rPr>
              <a:t>Publish</a:t>
            </a:r>
            <a:endParaRPr lang="en-US" sz="1300" dirty="0"/>
          </a:p>
          <a:p>
            <a:pPr indent="0" marL="0">
              <a:buNone/>
            </a:pPr>
            <a:r>
              <a:rPr lang="en-US" sz="1100" dirty="0">
                <a:solidFill>
                  <a:schemeClr val="tx2"/>
                </a:solidFill>
                <a:latin typeface="Courier New" pitchFamily="34" charset="0"/>
                <a:ea typeface="Courier New" pitchFamily="34" charset="-122"/>
                <a:cs typeface="Courier New" pitchFamily="34" charset="-120"/>
              </a:rPr>
              <a:t>push to GHCR as :sha</a:t>
            </a:r>
            <a:endParaRPr lang="en-US" sz="1300" dirty="0"/>
          </a:p>
        </p:txBody>
      </p:sp>
      <p:sp>
        <p:nvSpPr>
          <p:cNvPr id="14" name="Shape 12"/>
          <p:cNvSpPr/>
          <p:nvPr/>
        </p:nvSpPr>
        <p:spPr>
          <a:xfrm>
            <a:off x="9363456" y="1943100"/>
            <a:ext cx="192024" cy="0"/>
          </a:xfrm>
          <a:prstGeom prst="line">
            <a:avLst/>
          </a:prstGeom>
          <a:noFill/>
          <a:ln w="19050">
            <a:solidFill>
              <a:schemeClr val="accent1"/>
            </a:solidFill>
            <a:prstDash val="solid"/>
            <a:tailEnd type="triangle"/>
          </a:ln>
        </p:spPr>
      </p:sp>
      <p:sp>
        <p:nvSpPr>
          <p:cNvPr id="15" name="job 05"/>
          <p:cNvSpPr/>
          <p:nvPr/>
        </p:nvSpPr>
        <p:spPr>
          <a:xfrm>
            <a:off x="9582912" y="1417320"/>
            <a:ext cx="2011680" cy="1051560"/>
          </a:xfrm>
          <a:prstGeom prst="roundRect">
            <a:avLst>
              <a:gd name="adj" fmla="val 8696"/>
            </a:avLst>
          </a:prstGeom>
          <a:solidFill>
            <a:schemeClr val="bg2"/>
          </a:solidFill>
          <a:ln w="12700">
            <a:solidFill>
              <a:schemeClr val="accent3"/>
            </a:solidFill>
            <a:prstDash val="solid"/>
          </a:ln>
        </p:spPr>
      </p:sp>
      <p:sp>
        <p:nvSpPr>
          <p:cNvPr id="16" name="Text 14"/>
          <p:cNvSpPr txBox="1"/>
          <p:nvPr/>
        </p:nvSpPr>
        <p:spPr>
          <a:xfrm>
            <a:off x="9720072" y="1417320"/>
            <a:ext cx="1737360" cy="105156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05  </a:t>
            </a:r>
            <a:pPr indent="0" marL="0">
              <a:buNone/>
            </a:pPr>
            <a:r>
              <a:rPr lang="en-US" sz="1500" b="1" dirty="0">
                <a:solidFill>
                  <a:schemeClr val="tx1"/>
                </a:solidFill>
              </a:rPr>
              <a:t>Deploy</a:t>
            </a:r>
            <a:endParaRPr lang="en-US" sz="1300" dirty="0"/>
          </a:p>
          <a:p>
            <a:pPr indent="0" marL="0">
              <a:buNone/>
            </a:pPr>
            <a:r>
              <a:rPr lang="en-US" sz="1100" dirty="0">
                <a:solidFill>
                  <a:schemeClr val="tx2"/>
                </a:solidFill>
                <a:latin typeface="Courier New" pitchFamily="34" charset="0"/>
                <a:ea typeface="Courier New" pitchFamily="34" charset="-122"/>
                <a:cs typeface="Courier New" pitchFamily="34" charset="-120"/>
              </a:rPr>
              <a:t>helm upgrade, rollout</a:t>
            </a:r>
            <a:endParaRPr lang="en-US" sz="1300" dirty="0"/>
          </a:p>
        </p:txBody>
      </p:sp>
      <p:sp>
        <p:nvSpPr>
          <p:cNvPr id="17" name="Text 15"/>
          <p:cNvSpPr txBox="1"/>
          <p:nvPr/>
        </p:nvSpPr>
        <p:spPr>
          <a:xfrm>
            <a:off x="548640" y="2651760"/>
            <a:ext cx="11091672" cy="41148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Tag = ${{ github.sha }}   </a:t>
            </a:r>
            <a:pPr indent="0" marL="0">
              <a:buNone/>
            </a:pPr>
            <a:r>
              <a:rPr lang="en-US" sz="1500" dirty="0">
                <a:solidFill>
                  <a:schemeClr val="tx2"/>
                </a:solidFill>
              </a:rPr>
              <a:t>Deploy sets the Helm image tag to the commit SHA, so every pod traces back to one commit.</a:t>
            </a:r>
            <a:endParaRPr lang="en-US" sz="1300" dirty="0"/>
          </a:p>
        </p:txBody>
      </p:sp>
      <p:sp>
        <p:nvSpPr>
          <p:cNvPr id="18" name="Text 16"/>
          <p:cNvSpPr txBox="1"/>
          <p:nvPr/>
        </p:nvSpPr>
        <p:spPr>
          <a:xfrm>
            <a:off x="548640" y="3182112"/>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github actions: green runs on main</a:t>
            </a:r>
            <a:endParaRPr lang="en-US" sz="1100" dirty="0"/>
          </a:p>
        </p:txBody>
      </p:sp>
      <p:sp>
        <p:nvSpPr>
          <p:cNvPr id="19" name="frame actions.jpg"/>
          <p:cNvSpPr/>
          <p:nvPr/>
        </p:nvSpPr>
        <p:spPr>
          <a:xfrm>
            <a:off x="521208" y="3447288"/>
            <a:ext cx="5183101" cy="2935224"/>
          </a:xfrm>
          <a:prstGeom prst="rect">
            <a:avLst/>
          </a:prstGeom>
          <a:solidFill>
            <a:schemeClr val="accent3"/>
          </a:solidFill>
          <a:ln w="9525">
            <a:solidFill>
              <a:schemeClr val="accent3"/>
            </a:solidFill>
            <a:prstDash val="solid"/>
          </a:ln>
        </p:spPr>
      </p:sp>
      <p:pic>
        <p:nvPicPr>
          <p:cNvPr id="20" name="Image 0" descr="actions.jpg">    </p:cNvPr>
          <p:cNvPicPr>
            <a:picLocks noChangeAspect="1"/>
          </p:cNvPicPr>
          <p:nvPr/>
        </p:nvPicPr>
        <p:blipFill>
          <a:blip r:embed="rId1"/>
          <a:stretch>
            <a:fillRect/>
          </a:stretch>
        </p:blipFill>
        <p:spPr>
          <a:xfrm>
            <a:off x="548640" y="3474720"/>
            <a:ext cx="5128237" cy="2880360"/>
          </a:xfrm>
          <a:prstGeom prst="rect">
            <a:avLst/>
          </a:prstGeom>
        </p:spPr>
      </p:pic>
      <p:sp>
        <p:nvSpPr>
          <p:cNvPr id="21" name="Text 18"/>
          <p:cNvSpPr txBox="1"/>
          <p:nvPr/>
        </p:nvSpPr>
        <p:spPr>
          <a:xfrm>
            <a:off x="6172200" y="3182112"/>
            <a:ext cx="512064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ghcr.io: backend image, one tag per commit</a:t>
            </a:r>
            <a:endParaRPr lang="en-US" sz="1100" dirty="0"/>
          </a:p>
        </p:txBody>
      </p:sp>
      <p:sp>
        <p:nvSpPr>
          <p:cNvPr id="22" name="frame ghcr2.jpg"/>
          <p:cNvSpPr/>
          <p:nvPr/>
        </p:nvSpPr>
        <p:spPr>
          <a:xfrm>
            <a:off x="6144768" y="3447288"/>
            <a:ext cx="5137852" cy="2935224"/>
          </a:xfrm>
          <a:prstGeom prst="rect">
            <a:avLst/>
          </a:prstGeom>
          <a:solidFill>
            <a:schemeClr val="accent3"/>
          </a:solidFill>
          <a:ln w="9525">
            <a:solidFill>
              <a:schemeClr val="accent3"/>
            </a:solidFill>
            <a:prstDash val="solid"/>
          </a:ln>
        </p:spPr>
      </p:sp>
      <p:pic>
        <p:nvPicPr>
          <p:cNvPr id="23" name="Image 1" descr="ghcr2.jpg">    </p:cNvPr>
          <p:cNvPicPr>
            <a:picLocks noChangeAspect="1"/>
          </p:cNvPicPr>
          <p:nvPr/>
        </p:nvPicPr>
        <p:blipFill>
          <a:blip r:embed="rId2"/>
          <a:stretch>
            <a:fillRect/>
          </a:stretch>
        </p:blipFill>
        <p:spPr>
          <a:xfrm>
            <a:off x="6172200" y="3474720"/>
            <a:ext cx="5082988" cy="2880360"/>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Trivy blocks HIGH and CRITICAL CVEs</a:t>
            </a:r>
            <a:endParaRPr lang="en-US" sz="3200" dirty="0"/>
          </a:p>
        </p:txBody>
      </p:sp>
      <p:sp>
        <p:nvSpPr>
          <p:cNvPr id="3" name="Text 1"/>
          <p:cNvSpPr txBox="1"/>
          <p:nvPr/>
        </p:nvSpPr>
        <p:spPr>
          <a:xfrm>
            <a:off x="548640" y="1234440"/>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job: Docker Build &amp; Vulnerability Scan Gate</a:t>
            </a:r>
            <a:endParaRPr lang="en-US" sz="1100" dirty="0"/>
          </a:p>
        </p:txBody>
      </p:sp>
      <p:sp>
        <p:nvSpPr>
          <p:cNvPr id="4" name="frame trivy.jpg"/>
          <p:cNvSpPr/>
          <p:nvPr/>
        </p:nvSpPr>
        <p:spPr>
          <a:xfrm>
            <a:off x="521208" y="1527048"/>
            <a:ext cx="6458683" cy="4672584"/>
          </a:xfrm>
          <a:prstGeom prst="rect">
            <a:avLst/>
          </a:prstGeom>
          <a:solidFill>
            <a:schemeClr val="accent3"/>
          </a:solidFill>
          <a:ln w="9525">
            <a:solidFill>
              <a:schemeClr val="accent3"/>
            </a:solidFill>
            <a:prstDash val="solid"/>
          </a:ln>
        </p:spPr>
      </p:sp>
      <p:pic>
        <p:nvPicPr>
          <p:cNvPr id="5" name="Image 0" descr="trivy.jpg">    </p:cNvPr>
          <p:cNvPicPr>
            <a:picLocks noChangeAspect="1"/>
          </p:cNvPicPr>
          <p:nvPr/>
        </p:nvPicPr>
        <p:blipFill>
          <a:blip r:embed="rId1"/>
          <a:stretch>
            <a:fillRect/>
          </a:stretch>
        </p:blipFill>
        <p:spPr>
          <a:xfrm>
            <a:off x="548640" y="1554480"/>
            <a:ext cx="6403819" cy="4617720"/>
          </a:xfrm>
          <a:prstGeom prst="rect">
            <a:avLst/>
          </a:prstGeom>
        </p:spPr>
      </p:pic>
      <p:sp>
        <p:nvSpPr>
          <p:cNvPr id="6" name="trivy config"/>
          <p:cNvSpPr/>
          <p:nvPr/>
        </p:nvSpPr>
        <p:spPr>
          <a:xfrm>
            <a:off x="7269480" y="1554480"/>
            <a:ext cx="4370832" cy="1417320"/>
          </a:xfrm>
          <a:prstGeom prst="roundRect">
            <a:avLst>
              <a:gd name="adj" fmla="val 6452"/>
            </a:avLst>
          </a:prstGeom>
          <a:solidFill>
            <a:schemeClr val="bg2"/>
          </a:solidFill>
          <a:ln w="12700">
            <a:solidFill>
              <a:schemeClr val="accent3"/>
            </a:solidFill>
            <a:prstDash val="solid"/>
          </a:ln>
        </p:spPr>
      </p:sp>
      <p:sp>
        <p:nvSpPr>
          <p:cNvPr id="7" name="Text 4"/>
          <p:cNvSpPr txBox="1"/>
          <p:nvPr/>
        </p:nvSpPr>
        <p:spPr>
          <a:xfrm>
            <a:off x="7498080" y="1554480"/>
            <a:ext cx="3913632" cy="1417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severity: 'CRITICAL,HIGH'</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exit-code: '1'</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ignore-unfixed: true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vuln-type: 'os,library'</a:t>
            </a:r>
            <a:endParaRPr lang="en-US" sz="1300" dirty="0"/>
          </a:p>
        </p:txBody>
      </p:sp>
      <p:sp>
        <p:nvSpPr>
          <p:cNvPr id="8" name="Text 5"/>
          <p:cNvSpPr txBox="1"/>
          <p:nvPr/>
        </p:nvSpPr>
        <p:spPr>
          <a:xfrm>
            <a:off x="7269480" y="3200400"/>
            <a:ext cx="4370832" cy="365760"/>
          </a:xfrm>
          <a:prstGeom prst="rect">
            <a:avLst/>
          </a:prstGeom>
          <a:noFill/>
          <a:ln/>
        </p:spPr>
        <p:txBody>
          <a:bodyPr wrap="square" lIns="0" tIns="0" rIns="0" bIns="0" rtlCol="0" anchor="ctr"/>
          <a:lstStyle/>
          <a:p>
            <a:pPr indent="0" marL="0">
              <a:buNone/>
            </a:pPr>
            <a:r>
              <a:rPr lang="en-US" sz="1800" b="1" dirty="0">
                <a:solidFill>
                  <a:schemeClr val="accent1"/>
                </a:solidFill>
                <a:latin typeface="Arial" pitchFamily="34" charset="0"/>
                <a:ea typeface="Arial" pitchFamily="34" charset="-122"/>
                <a:cs typeface="Arial" pitchFamily="34" charset="-120"/>
              </a:rPr>
              <a:t>What it caught</a:t>
            </a:r>
            <a:endParaRPr lang="en-US" sz="1800" dirty="0"/>
          </a:p>
        </p:txBody>
      </p:sp>
      <p:sp>
        <p:nvSpPr>
          <p:cNvPr id="9" name="Text 6"/>
          <p:cNvSpPr txBox="1"/>
          <p:nvPr/>
        </p:nvSpPr>
        <p:spPr>
          <a:xfrm>
            <a:off x="7269480" y="3611880"/>
            <a:ext cx="4370832" cy="1508760"/>
          </a:xfrm>
          <a:prstGeom prst="rect">
            <a:avLst/>
          </a:prstGeom>
          <a:noFill/>
          <a:ln/>
        </p:spPr>
        <p:txBody>
          <a:bodyPr wrap="square" lIns="0" tIns="0" rIns="0" bIns="0" rtlCol="0" anchor="t"/>
          <a:lstStyle/>
          <a:p>
            <a:pPr indent="0" marL="0">
              <a:buNone/>
            </a:pPr>
            <a:r>
              <a:rPr lang="en-US" sz="1500" dirty="0">
                <a:solidFill>
                  <a:schemeClr val="tx1"/>
                </a:solidFill>
              </a:rPr>
              <a:t>The first scan failed on a libpcre2 CVE in the base OS layer of both images. Adding apt-get upgrade and apk upgrade to the Dockerfiles pulled the patched package, and the next scan came back clean.</a:t>
            </a:r>
            <a:endParaRPr lang="en-US" sz="1500" dirty="0"/>
          </a:p>
        </p:txBody>
      </p:sp>
      <p:sp>
        <p:nvSpPr>
          <p:cNvPr id="10" name="tool gitleaks"/>
          <p:cNvSpPr/>
          <p:nvPr/>
        </p:nvSpPr>
        <p:spPr>
          <a:xfrm>
            <a:off x="7269480" y="5303520"/>
            <a:ext cx="1005840" cy="365760"/>
          </a:xfrm>
          <a:prstGeom prst="roundRect">
            <a:avLst>
              <a:gd name="adj" fmla="val 20000"/>
            </a:avLst>
          </a:prstGeom>
          <a:solidFill>
            <a:schemeClr val="accent6"/>
          </a:solidFill>
          <a:ln w="12700">
            <a:solidFill>
              <a:schemeClr val="accent3"/>
            </a:solidFill>
            <a:prstDash val="solid"/>
          </a:ln>
        </p:spPr>
      </p:sp>
      <p:sp>
        <p:nvSpPr>
          <p:cNvPr id="11" name="Text 8"/>
          <p:cNvSpPr txBox="1"/>
          <p:nvPr/>
        </p:nvSpPr>
        <p:spPr>
          <a:xfrm>
            <a:off x="7269480" y="5303520"/>
            <a:ext cx="1005840" cy="36576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gitleaks</a:t>
            </a:r>
            <a:endParaRPr lang="en-US" sz="1100" dirty="0"/>
          </a:p>
        </p:txBody>
      </p:sp>
      <p:sp>
        <p:nvSpPr>
          <p:cNvPr id="12" name="tool bandit"/>
          <p:cNvSpPr/>
          <p:nvPr/>
        </p:nvSpPr>
        <p:spPr>
          <a:xfrm>
            <a:off x="8366760" y="5303520"/>
            <a:ext cx="1005840" cy="365760"/>
          </a:xfrm>
          <a:prstGeom prst="roundRect">
            <a:avLst>
              <a:gd name="adj" fmla="val 20000"/>
            </a:avLst>
          </a:prstGeom>
          <a:solidFill>
            <a:schemeClr val="accent6"/>
          </a:solidFill>
          <a:ln w="12700">
            <a:solidFill>
              <a:schemeClr val="accent3"/>
            </a:solidFill>
            <a:prstDash val="solid"/>
          </a:ln>
        </p:spPr>
      </p:sp>
      <p:sp>
        <p:nvSpPr>
          <p:cNvPr id="13" name="Text 10"/>
          <p:cNvSpPr txBox="1"/>
          <p:nvPr/>
        </p:nvSpPr>
        <p:spPr>
          <a:xfrm>
            <a:off x="8366760" y="5303520"/>
            <a:ext cx="1005840" cy="36576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bandit</a:t>
            </a:r>
            <a:endParaRPr lang="en-US" sz="1100" dirty="0"/>
          </a:p>
        </p:txBody>
      </p:sp>
      <p:sp>
        <p:nvSpPr>
          <p:cNvPr id="14" name="tool pip-audit"/>
          <p:cNvSpPr/>
          <p:nvPr/>
        </p:nvSpPr>
        <p:spPr>
          <a:xfrm>
            <a:off x="9464040" y="5303520"/>
            <a:ext cx="1005840" cy="365760"/>
          </a:xfrm>
          <a:prstGeom prst="roundRect">
            <a:avLst>
              <a:gd name="adj" fmla="val 20000"/>
            </a:avLst>
          </a:prstGeom>
          <a:solidFill>
            <a:schemeClr val="accent6"/>
          </a:solidFill>
          <a:ln w="12700">
            <a:solidFill>
              <a:schemeClr val="accent3"/>
            </a:solidFill>
            <a:prstDash val="solid"/>
          </a:ln>
        </p:spPr>
      </p:sp>
      <p:sp>
        <p:nvSpPr>
          <p:cNvPr id="15" name="Text 12"/>
          <p:cNvSpPr txBox="1"/>
          <p:nvPr/>
        </p:nvSpPr>
        <p:spPr>
          <a:xfrm>
            <a:off x="9464040" y="5303520"/>
            <a:ext cx="1005840" cy="36576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pip-audit</a:t>
            </a:r>
            <a:endParaRPr lang="en-US" sz="1100" dirty="0"/>
          </a:p>
        </p:txBody>
      </p:sp>
      <p:sp>
        <p:nvSpPr>
          <p:cNvPr id="16" name="tool npm audit"/>
          <p:cNvSpPr/>
          <p:nvPr/>
        </p:nvSpPr>
        <p:spPr>
          <a:xfrm>
            <a:off x="10561320" y="5303520"/>
            <a:ext cx="1005840" cy="365760"/>
          </a:xfrm>
          <a:prstGeom prst="roundRect">
            <a:avLst>
              <a:gd name="adj" fmla="val 20000"/>
            </a:avLst>
          </a:prstGeom>
          <a:solidFill>
            <a:schemeClr val="accent6"/>
          </a:solidFill>
          <a:ln w="12700">
            <a:solidFill>
              <a:schemeClr val="accent3"/>
            </a:solidFill>
            <a:prstDash val="solid"/>
          </a:ln>
        </p:spPr>
      </p:sp>
      <p:sp>
        <p:nvSpPr>
          <p:cNvPr id="17" name="Text 14"/>
          <p:cNvSpPr txBox="1"/>
          <p:nvPr/>
        </p:nvSpPr>
        <p:spPr>
          <a:xfrm>
            <a:off x="10561320" y="5303520"/>
            <a:ext cx="1005840" cy="36576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npm audit</a:t>
            </a:r>
            <a:endParaRPr lang="en-US" sz="1100" dirty="0"/>
          </a:p>
        </p:txBody>
      </p:sp>
      <p:sp>
        <p:nvSpPr>
          <p:cNvPr id="18" name="Text 15"/>
          <p:cNvSpPr txBox="1"/>
          <p:nvPr/>
        </p:nvSpPr>
        <p:spPr>
          <a:xfrm>
            <a:off x="7269480" y="5760720"/>
            <a:ext cx="4370832" cy="457200"/>
          </a:xfrm>
          <a:prstGeom prst="rect">
            <a:avLst/>
          </a:prstGeom>
          <a:noFill/>
          <a:ln/>
        </p:spPr>
        <p:txBody>
          <a:bodyPr wrap="square" lIns="0" tIns="0" rIns="0" bIns="0" rtlCol="0" anchor="t"/>
          <a:lstStyle/>
          <a:p>
            <a:pPr indent="0" marL="0">
              <a:buNone/>
            </a:pPr>
            <a:r>
              <a:rPr lang="en-US" sz="1200" dirty="0">
                <a:solidFill>
                  <a:schemeClr val="tx2"/>
                </a:solidFill>
              </a:rPr>
              <a:t>Also in the pipeline. pip-audit flagged old starlette and pytest pins, both bumped.</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AWS network and EKS, all from Terraform</a:t>
            </a:r>
            <a:endParaRPr lang="en-US" sz="3200" dirty="0"/>
          </a:p>
        </p:txBody>
      </p:sp>
      <p:sp>
        <p:nvSpPr>
          <p:cNvPr id="3" name="vpc"/>
          <p:cNvSpPr/>
          <p:nvPr/>
        </p:nvSpPr>
        <p:spPr>
          <a:xfrm>
            <a:off x="548640" y="1417320"/>
            <a:ext cx="5532120" cy="4251960"/>
          </a:xfrm>
          <a:prstGeom prst="roundRect">
            <a:avLst>
              <a:gd name="adj" fmla="val 2151"/>
            </a:avLst>
          </a:prstGeom>
          <a:solidFill>
            <a:schemeClr val="bg2"/>
          </a:solidFill>
          <a:ln w="12700">
            <a:solidFill>
              <a:schemeClr val="accent3"/>
            </a:solidFill>
            <a:prstDash val="solid"/>
          </a:ln>
        </p:spPr>
      </p:sp>
      <p:sp>
        <p:nvSpPr>
          <p:cNvPr id="4" name="Text 2"/>
          <p:cNvSpPr txBox="1"/>
          <p:nvPr/>
        </p:nvSpPr>
        <p:spPr>
          <a:xfrm>
            <a:off x="777240" y="1554480"/>
            <a:ext cx="50292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vpc 10.20.0.0/16  /  ap-south-1</a:t>
            </a:r>
            <a:endParaRPr lang="en-US" sz="1100" dirty="0"/>
          </a:p>
        </p:txBody>
      </p:sp>
      <p:sp>
        <p:nvSpPr>
          <p:cNvPr id="5" name="Text 3"/>
          <p:cNvSpPr txBox="1"/>
          <p:nvPr/>
        </p:nvSpPr>
        <p:spPr>
          <a:xfrm>
            <a:off x="777240" y="1920240"/>
            <a:ext cx="2377440" cy="256032"/>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ap-south-1a</a:t>
            </a:r>
            <a:endParaRPr lang="en-US" sz="1100" dirty="0"/>
          </a:p>
        </p:txBody>
      </p:sp>
      <p:sp>
        <p:nvSpPr>
          <p:cNvPr id="6" name="node public subnet"/>
          <p:cNvSpPr/>
          <p:nvPr/>
        </p:nvSpPr>
        <p:spPr>
          <a:xfrm>
            <a:off x="777240" y="2240280"/>
            <a:ext cx="2468880" cy="822960"/>
          </a:xfrm>
          <a:prstGeom prst="roundRect">
            <a:avLst>
              <a:gd name="adj" fmla="val 11111"/>
            </a:avLst>
          </a:prstGeom>
          <a:solidFill>
            <a:schemeClr val="accent6"/>
          </a:solidFill>
          <a:ln w="12700">
            <a:solidFill>
              <a:schemeClr val="accent3"/>
            </a:solidFill>
            <a:prstDash val="solid"/>
          </a:ln>
        </p:spPr>
      </p:sp>
      <p:sp>
        <p:nvSpPr>
          <p:cNvPr id="7" name="Text 5"/>
          <p:cNvSpPr txBox="1"/>
          <p:nvPr/>
        </p:nvSpPr>
        <p:spPr>
          <a:xfrm>
            <a:off x="886968" y="2240280"/>
            <a:ext cx="2249424" cy="822960"/>
          </a:xfrm>
          <a:prstGeom prst="rect">
            <a:avLst/>
          </a:prstGeom>
          <a:noFill/>
          <a:ln/>
        </p:spPr>
        <p:txBody>
          <a:bodyPr wrap="square" lIns="0" tIns="0" rIns="0" bIns="0" rtlCol="0" anchor="ctr"/>
          <a:lstStyle/>
          <a:p>
            <a:pPr indent="0" marL="0">
              <a:buNone/>
            </a:pPr>
            <a:r>
              <a:rPr lang="en-US" sz="1400" b="1" dirty="0">
                <a:solidFill>
                  <a:schemeClr val="tx1"/>
                </a:solidFill>
              </a:rPr>
              <a:t>public subnet</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10.20.101.0/24 + NAT</a:t>
            </a:r>
            <a:endParaRPr lang="en-US" sz="1400" dirty="0"/>
          </a:p>
        </p:txBody>
      </p:sp>
      <p:sp>
        <p:nvSpPr>
          <p:cNvPr id="8" name="node private subnet"/>
          <p:cNvSpPr/>
          <p:nvPr/>
        </p:nvSpPr>
        <p:spPr>
          <a:xfrm>
            <a:off x="777240" y="3200400"/>
            <a:ext cx="2468880" cy="822960"/>
          </a:xfrm>
          <a:prstGeom prst="roundRect">
            <a:avLst>
              <a:gd name="adj" fmla="val 11111"/>
            </a:avLst>
          </a:prstGeom>
          <a:solidFill>
            <a:schemeClr val="accent6"/>
          </a:solidFill>
          <a:ln w="12700">
            <a:solidFill>
              <a:schemeClr val="accent3"/>
            </a:solidFill>
            <a:prstDash val="solid"/>
          </a:ln>
        </p:spPr>
      </p:sp>
      <p:sp>
        <p:nvSpPr>
          <p:cNvPr id="9" name="Text 7"/>
          <p:cNvSpPr txBox="1"/>
          <p:nvPr/>
        </p:nvSpPr>
        <p:spPr>
          <a:xfrm>
            <a:off x="886968" y="3200400"/>
            <a:ext cx="2249424" cy="822960"/>
          </a:xfrm>
          <a:prstGeom prst="rect">
            <a:avLst/>
          </a:prstGeom>
          <a:noFill/>
          <a:ln/>
        </p:spPr>
        <p:txBody>
          <a:bodyPr wrap="square" lIns="0" tIns="0" rIns="0" bIns="0" rtlCol="0" anchor="ctr"/>
          <a:lstStyle/>
          <a:p>
            <a:pPr indent="0" marL="0">
              <a:buNone/>
            </a:pPr>
            <a:r>
              <a:rPr lang="en-US" sz="1400" b="1" dirty="0">
                <a:solidFill>
                  <a:schemeClr val="tx1"/>
                </a:solidFill>
              </a:rPr>
              <a:t>private subnet</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10.20.1.0/24</a:t>
            </a:r>
            <a:endParaRPr lang="en-US" sz="1400" dirty="0"/>
          </a:p>
        </p:txBody>
      </p:sp>
      <p:sp>
        <p:nvSpPr>
          <p:cNvPr id="10" name="Text 8"/>
          <p:cNvSpPr txBox="1"/>
          <p:nvPr/>
        </p:nvSpPr>
        <p:spPr>
          <a:xfrm>
            <a:off x="3383280" y="1920240"/>
            <a:ext cx="2377440" cy="256032"/>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ap-south-1b</a:t>
            </a:r>
            <a:endParaRPr lang="en-US" sz="1100" dirty="0"/>
          </a:p>
        </p:txBody>
      </p:sp>
      <p:sp>
        <p:nvSpPr>
          <p:cNvPr id="11" name="node public subnet"/>
          <p:cNvSpPr/>
          <p:nvPr/>
        </p:nvSpPr>
        <p:spPr>
          <a:xfrm>
            <a:off x="3383280" y="2240280"/>
            <a:ext cx="2468880" cy="822960"/>
          </a:xfrm>
          <a:prstGeom prst="roundRect">
            <a:avLst>
              <a:gd name="adj" fmla="val 11111"/>
            </a:avLst>
          </a:prstGeom>
          <a:solidFill>
            <a:schemeClr val="accent6"/>
          </a:solidFill>
          <a:ln w="12700">
            <a:solidFill>
              <a:schemeClr val="accent3"/>
            </a:solidFill>
            <a:prstDash val="solid"/>
          </a:ln>
        </p:spPr>
      </p:sp>
      <p:sp>
        <p:nvSpPr>
          <p:cNvPr id="12" name="Text 10"/>
          <p:cNvSpPr txBox="1"/>
          <p:nvPr/>
        </p:nvSpPr>
        <p:spPr>
          <a:xfrm>
            <a:off x="3493008" y="2240280"/>
            <a:ext cx="2249424" cy="822960"/>
          </a:xfrm>
          <a:prstGeom prst="rect">
            <a:avLst/>
          </a:prstGeom>
          <a:noFill/>
          <a:ln/>
        </p:spPr>
        <p:txBody>
          <a:bodyPr wrap="square" lIns="0" tIns="0" rIns="0" bIns="0" rtlCol="0" anchor="ctr"/>
          <a:lstStyle/>
          <a:p>
            <a:pPr indent="0" marL="0">
              <a:buNone/>
            </a:pPr>
            <a:r>
              <a:rPr lang="en-US" sz="1400" b="1" dirty="0">
                <a:solidFill>
                  <a:schemeClr val="tx1"/>
                </a:solidFill>
              </a:rPr>
              <a:t>public subnet</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10.20.102.0/24</a:t>
            </a:r>
            <a:endParaRPr lang="en-US" sz="1400" dirty="0"/>
          </a:p>
        </p:txBody>
      </p:sp>
      <p:sp>
        <p:nvSpPr>
          <p:cNvPr id="13" name="node private subnet"/>
          <p:cNvSpPr/>
          <p:nvPr/>
        </p:nvSpPr>
        <p:spPr>
          <a:xfrm>
            <a:off x="3383280" y="3200400"/>
            <a:ext cx="2468880" cy="822960"/>
          </a:xfrm>
          <a:prstGeom prst="roundRect">
            <a:avLst>
              <a:gd name="adj" fmla="val 11111"/>
            </a:avLst>
          </a:prstGeom>
          <a:solidFill>
            <a:schemeClr val="accent6"/>
          </a:solidFill>
          <a:ln w="12700">
            <a:solidFill>
              <a:schemeClr val="accent3"/>
            </a:solidFill>
            <a:prstDash val="solid"/>
          </a:ln>
        </p:spPr>
      </p:sp>
      <p:sp>
        <p:nvSpPr>
          <p:cNvPr id="14" name="Text 12"/>
          <p:cNvSpPr txBox="1"/>
          <p:nvPr/>
        </p:nvSpPr>
        <p:spPr>
          <a:xfrm>
            <a:off x="3493008" y="3200400"/>
            <a:ext cx="2249424" cy="822960"/>
          </a:xfrm>
          <a:prstGeom prst="rect">
            <a:avLst/>
          </a:prstGeom>
          <a:noFill/>
          <a:ln/>
        </p:spPr>
        <p:txBody>
          <a:bodyPr wrap="square" lIns="0" tIns="0" rIns="0" bIns="0" rtlCol="0" anchor="ctr"/>
          <a:lstStyle/>
          <a:p>
            <a:pPr indent="0" marL="0">
              <a:buNone/>
            </a:pPr>
            <a:r>
              <a:rPr lang="en-US" sz="1400" b="1" dirty="0">
                <a:solidFill>
                  <a:schemeClr val="tx1"/>
                </a:solidFill>
              </a:rPr>
              <a:t>private subnet</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10.20.2.0/24</a:t>
            </a:r>
            <a:endParaRPr lang="en-US" sz="1400" dirty="0"/>
          </a:p>
        </p:txBody>
      </p:sp>
      <p:sp>
        <p:nvSpPr>
          <p:cNvPr id="15" name="node EKS 1.31  ·  managed node group"/>
          <p:cNvSpPr/>
          <p:nvPr/>
        </p:nvSpPr>
        <p:spPr>
          <a:xfrm>
            <a:off x="777240" y="4206240"/>
            <a:ext cx="5074920" cy="1234440"/>
          </a:xfrm>
          <a:prstGeom prst="roundRect">
            <a:avLst>
              <a:gd name="adj" fmla="val 7407"/>
            </a:avLst>
          </a:prstGeom>
          <a:solidFill>
            <a:schemeClr val="accent6"/>
          </a:solidFill>
          <a:ln w="12700">
            <a:solidFill>
              <a:schemeClr val="accent3"/>
            </a:solidFill>
            <a:prstDash val="solid"/>
          </a:ln>
        </p:spPr>
      </p:sp>
      <p:sp>
        <p:nvSpPr>
          <p:cNvPr id="16" name="Text 14"/>
          <p:cNvSpPr txBox="1"/>
          <p:nvPr/>
        </p:nvSpPr>
        <p:spPr>
          <a:xfrm>
            <a:off x="886968" y="4206240"/>
            <a:ext cx="4855464" cy="1234440"/>
          </a:xfrm>
          <a:prstGeom prst="rect">
            <a:avLst/>
          </a:prstGeom>
          <a:noFill/>
          <a:ln/>
        </p:spPr>
        <p:txBody>
          <a:bodyPr wrap="square" lIns="0" tIns="0" rIns="0" bIns="0" rtlCol="0" anchor="ctr"/>
          <a:lstStyle/>
          <a:p>
            <a:pPr indent="0" marL="0">
              <a:buNone/>
            </a:pPr>
            <a:r>
              <a:rPr lang="en-US" sz="1500" b="1" dirty="0">
                <a:solidFill>
                  <a:schemeClr val="tx1"/>
                </a:solidFill>
              </a:rPr>
              <a:t>EKS 1.31  ·  managed node group</a:t>
            </a:r>
            <a:endParaRPr lang="en-US" sz="1500" dirty="0"/>
          </a:p>
          <a:p>
            <a:pPr indent="0" marL="0">
              <a:buNone/>
            </a:pPr>
            <a:r>
              <a:rPr lang="en-US" sz="1100" dirty="0">
                <a:solidFill>
                  <a:schemeClr val="tx2"/>
                </a:solidFill>
                <a:latin typeface="Courier New" pitchFamily="34" charset="0"/>
                <a:ea typeface="Courier New" pitchFamily="34" charset="-122"/>
                <a:cs typeface="Courier New" pitchFamily="34" charset="-120"/>
              </a:rPr>
              <a:t>t3.micro, desired 2, max 4</a:t>
            </a:r>
            <a:endParaRPr lang="en-US" sz="1500" dirty="0"/>
          </a:p>
          <a:p>
            <a:pPr indent="0" marL="0">
              <a:buNone/>
            </a:pPr>
            <a:r>
              <a:rPr lang="en-US" sz="1100" dirty="0">
                <a:solidFill>
                  <a:schemeClr val="tx2"/>
                </a:solidFill>
                <a:latin typeface="Courier New" pitchFamily="34" charset="0"/>
                <a:ea typeface="Courier New" pitchFamily="34" charset="-122"/>
                <a:cs typeface="Courier New" pitchFamily="34" charset="-120"/>
              </a:rPr>
              <a:t>nodes sit in the private subnets</a:t>
            </a:r>
            <a:endParaRPr lang="en-US" sz="1500" dirty="0"/>
          </a:p>
        </p:txBody>
      </p:sp>
      <p:sp>
        <p:nvSpPr>
          <p:cNvPr id="17" name="Text 15"/>
          <p:cNvSpPr txBox="1"/>
          <p:nvPr/>
        </p:nvSpPr>
        <p:spPr>
          <a:xfrm>
            <a:off x="548640" y="5806440"/>
            <a:ext cx="5532120" cy="457200"/>
          </a:xfrm>
          <a:prstGeom prst="rect">
            <a:avLst/>
          </a:prstGeom>
          <a:noFill/>
          <a:ln/>
        </p:spPr>
        <p:txBody>
          <a:bodyPr wrap="square" lIns="0" tIns="0" rIns="0" bIns="0" rtlCol="0" anchor="t"/>
          <a:lstStyle/>
          <a:p>
            <a:pPr indent="0" marL="0">
              <a:buNone/>
            </a:pPr>
            <a:r>
              <a:rPr lang="en-US" sz="1200" dirty="0">
                <a:solidFill>
                  <a:schemeClr val="tx2"/>
                </a:solidFill>
              </a:rPr>
              <a:t>terraform.tfvars.example is committed. Real tfvars and *.tfstate are gitignored, no keys in history.</a:t>
            </a:r>
            <a:endParaRPr lang="en-US" sz="1200" dirty="0"/>
          </a:p>
        </p:txBody>
      </p:sp>
      <p:sp>
        <p:nvSpPr>
          <p:cNvPr id="18" name="Text 16"/>
          <p:cNvSpPr txBox="1"/>
          <p:nvPr/>
        </p:nvSpPr>
        <p:spPr>
          <a:xfrm>
            <a:off x="6400800" y="1234440"/>
            <a:ext cx="45720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terraform plan</a:t>
            </a:r>
            <a:endParaRPr lang="en-US" sz="1100" dirty="0"/>
          </a:p>
        </p:txBody>
      </p:sp>
      <p:sp>
        <p:nvSpPr>
          <p:cNvPr id="19" name="frame plan.jpg"/>
          <p:cNvSpPr/>
          <p:nvPr/>
        </p:nvSpPr>
        <p:spPr>
          <a:xfrm>
            <a:off x="6373368" y="1527048"/>
            <a:ext cx="5294376" cy="1731508"/>
          </a:xfrm>
          <a:prstGeom prst="rect">
            <a:avLst/>
          </a:prstGeom>
          <a:solidFill>
            <a:schemeClr val="accent3"/>
          </a:solidFill>
          <a:ln w="9525">
            <a:solidFill>
              <a:schemeClr val="accent3"/>
            </a:solidFill>
            <a:prstDash val="solid"/>
          </a:ln>
        </p:spPr>
      </p:sp>
      <p:pic>
        <p:nvPicPr>
          <p:cNvPr id="20" name="Image 0" descr="plan.jpg">    </p:cNvPr>
          <p:cNvPicPr>
            <a:picLocks noChangeAspect="1"/>
          </p:cNvPicPr>
          <p:nvPr/>
        </p:nvPicPr>
        <p:blipFill>
          <a:blip r:embed="rId1"/>
          <a:stretch>
            <a:fillRect/>
          </a:stretch>
        </p:blipFill>
        <p:spPr>
          <a:xfrm>
            <a:off x="6400800" y="1554480"/>
            <a:ext cx="5239512" cy="1676644"/>
          </a:xfrm>
          <a:prstGeom prst="rect">
            <a:avLst/>
          </a:prstGeom>
        </p:spPr>
      </p:pic>
      <p:sp>
        <p:nvSpPr>
          <p:cNvPr id="21" name="Text 18"/>
          <p:cNvSpPr txBox="1"/>
          <p:nvPr/>
        </p:nvSpPr>
        <p:spPr>
          <a:xfrm>
            <a:off x="6400800" y="3520440"/>
            <a:ext cx="45720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terraform apply</a:t>
            </a:r>
            <a:endParaRPr lang="en-US" sz="1100" dirty="0"/>
          </a:p>
        </p:txBody>
      </p:sp>
      <p:sp>
        <p:nvSpPr>
          <p:cNvPr id="22" name="frame apply.jpg"/>
          <p:cNvSpPr/>
          <p:nvPr/>
        </p:nvSpPr>
        <p:spPr>
          <a:xfrm>
            <a:off x="6373368" y="3813048"/>
            <a:ext cx="5294376" cy="1195913"/>
          </a:xfrm>
          <a:prstGeom prst="rect">
            <a:avLst/>
          </a:prstGeom>
          <a:solidFill>
            <a:schemeClr val="accent3"/>
          </a:solidFill>
          <a:ln w="9525">
            <a:solidFill>
              <a:schemeClr val="accent3"/>
            </a:solidFill>
            <a:prstDash val="solid"/>
          </a:ln>
        </p:spPr>
      </p:sp>
      <p:pic>
        <p:nvPicPr>
          <p:cNvPr id="23" name="Image 1" descr="apply.jpg">    </p:cNvPr>
          <p:cNvPicPr>
            <a:picLocks noChangeAspect="1"/>
          </p:cNvPicPr>
          <p:nvPr/>
        </p:nvPicPr>
        <p:blipFill>
          <a:blip r:embed="rId2"/>
          <a:stretch>
            <a:fillRect/>
          </a:stretch>
        </p:blipFill>
        <p:spPr>
          <a:xfrm>
            <a:off x="6400800" y="3840480"/>
            <a:ext cx="5239512" cy="1141049"/>
          </a:xfrm>
          <a:prstGeom prst="rect">
            <a:avLst/>
          </a:prstGeom>
        </p:spPr>
      </p:pic>
      <p:sp>
        <p:nvSpPr>
          <p:cNvPr id="24" name="Text 20"/>
          <p:cNvSpPr txBox="1"/>
          <p:nvPr/>
        </p:nvSpPr>
        <p:spPr>
          <a:xfrm>
            <a:off x="6400800" y="5257800"/>
            <a:ext cx="5239512" cy="548640"/>
          </a:xfrm>
          <a:prstGeom prst="rect">
            <a:avLst/>
          </a:prstGeom>
          <a:noFill/>
          <a:ln/>
        </p:spPr>
        <p:txBody>
          <a:bodyPr wrap="square" lIns="0" tIns="0" rIns="0" bIns="0" rtlCol="0" anchor="ctr"/>
          <a:lstStyle/>
          <a:p>
            <a:pPr indent="0" marL="0">
              <a:buNone/>
            </a:pPr>
            <a:r>
              <a:rPr lang="en-US" sz="3000" b="1" dirty="0">
                <a:solidFill>
                  <a:schemeClr val="accent1"/>
                </a:solidFill>
                <a:latin typeface="Arial" pitchFamily="34" charset="0"/>
                <a:ea typeface="Arial" pitchFamily="34" charset="-122"/>
                <a:cs typeface="Arial" pitchFamily="34" charset="-120"/>
              </a:rPr>
              <a:t>56</a:t>
            </a:r>
            <a:pPr indent="0" marL="0">
              <a:buNone/>
            </a:pPr>
            <a:r>
              <a:rPr lang="en-US" sz="1500" dirty="0">
                <a:solidFill>
                  <a:schemeClr val="tx2"/>
                </a:solidFill>
              </a:rPr>
              <a:t>  resources planned and created</a:t>
            </a:r>
            <a:endParaRPr lang="en-US" sz="3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Live on AWS, then torn down</a:t>
            </a:r>
            <a:endParaRPr lang="en-US" sz="3200" dirty="0"/>
          </a:p>
        </p:txBody>
      </p:sp>
      <p:sp>
        <p:nvSpPr>
          <p:cNvPr id="3" name="Text 1"/>
          <p:cNvSpPr txBox="1"/>
          <p:nvPr/>
        </p:nvSpPr>
        <p:spPr>
          <a:xfrm>
            <a:off x="548640" y="1234440"/>
            <a:ext cx="73152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aws console: EKS clusters, Asia Pacific (Mumbai)</a:t>
            </a:r>
            <a:endParaRPr lang="en-US" sz="1100" dirty="0"/>
          </a:p>
        </p:txBody>
      </p:sp>
      <p:sp>
        <p:nvSpPr>
          <p:cNvPr id="4" name="frame eks.jpg"/>
          <p:cNvSpPr/>
          <p:nvPr/>
        </p:nvSpPr>
        <p:spPr>
          <a:xfrm>
            <a:off x="521208" y="1527048"/>
            <a:ext cx="11146536" cy="2223286"/>
          </a:xfrm>
          <a:prstGeom prst="rect">
            <a:avLst/>
          </a:prstGeom>
          <a:solidFill>
            <a:schemeClr val="accent3"/>
          </a:solidFill>
          <a:ln w="9525">
            <a:solidFill>
              <a:schemeClr val="accent3"/>
            </a:solidFill>
            <a:prstDash val="solid"/>
          </a:ln>
        </p:spPr>
      </p:sp>
      <p:pic>
        <p:nvPicPr>
          <p:cNvPr id="5" name="Image 0" descr="eks.jpg">    </p:cNvPr>
          <p:cNvPicPr>
            <a:picLocks noChangeAspect="1"/>
          </p:cNvPicPr>
          <p:nvPr/>
        </p:nvPicPr>
        <p:blipFill>
          <a:blip r:embed="rId1"/>
          <a:stretch>
            <a:fillRect/>
          </a:stretch>
        </p:blipFill>
        <p:spPr>
          <a:xfrm>
            <a:off x="548640" y="1554480"/>
            <a:ext cx="11091672" cy="2168422"/>
          </a:xfrm>
          <a:prstGeom prst="rect">
            <a:avLst/>
          </a:prstGeom>
        </p:spPr>
      </p:pic>
      <p:sp>
        <p:nvSpPr>
          <p:cNvPr id="6" name="Text 3"/>
          <p:cNvSpPr txBox="1"/>
          <p:nvPr/>
        </p:nvSpPr>
        <p:spPr>
          <a:xfrm>
            <a:off x="548640" y="3886200"/>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terraform destroy</a:t>
            </a:r>
            <a:endParaRPr lang="en-US" sz="1100" dirty="0"/>
          </a:p>
        </p:txBody>
      </p:sp>
      <p:sp>
        <p:nvSpPr>
          <p:cNvPr id="7" name="frame destroy.jpg"/>
          <p:cNvSpPr/>
          <p:nvPr/>
        </p:nvSpPr>
        <p:spPr>
          <a:xfrm>
            <a:off x="521208" y="4178808"/>
            <a:ext cx="5815584" cy="1943100"/>
          </a:xfrm>
          <a:prstGeom prst="rect">
            <a:avLst/>
          </a:prstGeom>
          <a:solidFill>
            <a:schemeClr val="accent3"/>
          </a:solidFill>
          <a:ln w="9525">
            <a:solidFill>
              <a:schemeClr val="accent3"/>
            </a:solidFill>
            <a:prstDash val="solid"/>
          </a:ln>
        </p:spPr>
      </p:sp>
      <p:pic>
        <p:nvPicPr>
          <p:cNvPr id="8" name="Image 1" descr="destroy.jpg">    </p:cNvPr>
          <p:cNvPicPr>
            <a:picLocks noChangeAspect="1"/>
          </p:cNvPicPr>
          <p:nvPr/>
        </p:nvPicPr>
        <p:blipFill>
          <a:blip r:embed="rId2"/>
          <a:stretch>
            <a:fillRect/>
          </a:stretch>
        </p:blipFill>
        <p:spPr>
          <a:xfrm>
            <a:off x="548640" y="4206240"/>
            <a:ext cx="5760720" cy="1888236"/>
          </a:xfrm>
          <a:prstGeom prst="rect">
            <a:avLst/>
          </a:prstGeom>
        </p:spPr>
      </p:pic>
      <p:sp>
        <p:nvSpPr>
          <p:cNvPr id="9" name="Text 5"/>
          <p:cNvSpPr txBox="1"/>
          <p:nvPr/>
        </p:nvSpPr>
        <p:spPr>
          <a:xfrm>
            <a:off x="6720840" y="3886200"/>
            <a:ext cx="4919472" cy="868680"/>
          </a:xfrm>
          <a:prstGeom prst="rect">
            <a:avLst/>
          </a:prstGeom>
          <a:noFill/>
          <a:ln/>
        </p:spPr>
        <p:txBody>
          <a:bodyPr wrap="square" lIns="0" tIns="0" rIns="0" bIns="0" rtlCol="0" anchor="ctr"/>
          <a:lstStyle/>
          <a:p>
            <a:pPr indent="0" marL="0">
              <a:buNone/>
            </a:pPr>
            <a:r>
              <a:rPr lang="en-US" sz="5400" b="1" dirty="0">
                <a:solidFill>
                  <a:schemeClr val="accent5"/>
                </a:solidFill>
                <a:latin typeface="Arial" pitchFamily="34" charset="0"/>
                <a:ea typeface="Arial" pitchFamily="34" charset="-122"/>
                <a:cs typeface="Arial" pitchFamily="34" charset="-120"/>
              </a:rPr>
              <a:t>56</a:t>
            </a:r>
            <a:pPr indent="0" marL="0">
              <a:buNone/>
            </a:pPr>
            <a:r>
              <a:rPr lang="en-US" sz="1800" dirty="0">
                <a:solidFill>
                  <a:schemeClr val="tx2"/>
                </a:solidFill>
              </a:rPr>
              <a:t>  planned, 56 destroyed</a:t>
            </a:r>
            <a:endParaRPr lang="en-US" sz="5400" dirty="0"/>
          </a:p>
        </p:txBody>
      </p:sp>
      <p:sp>
        <p:nvSpPr>
          <p:cNvPr id="10" name="Text 6"/>
          <p:cNvSpPr txBox="1"/>
          <p:nvPr/>
        </p:nvSpPr>
        <p:spPr>
          <a:xfrm>
            <a:off x="6720840" y="4846320"/>
            <a:ext cx="4919472"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destroy finished, VPC removed last</a:t>
            </a:r>
            <a:endParaRPr lang="en-US" sz="1100" dirty="0"/>
          </a:p>
        </p:txBody>
      </p:sp>
      <p:sp>
        <p:nvSpPr>
          <p:cNvPr id="11" name="frame destroyed.jpg"/>
          <p:cNvSpPr/>
          <p:nvPr/>
        </p:nvSpPr>
        <p:spPr>
          <a:xfrm>
            <a:off x="6693408" y="5138928"/>
            <a:ext cx="4974336" cy="645201"/>
          </a:xfrm>
          <a:prstGeom prst="rect">
            <a:avLst/>
          </a:prstGeom>
          <a:solidFill>
            <a:schemeClr val="accent3"/>
          </a:solidFill>
          <a:ln w="9525">
            <a:solidFill>
              <a:schemeClr val="accent3"/>
            </a:solidFill>
            <a:prstDash val="solid"/>
          </a:ln>
        </p:spPr>
      </p:sp>
      <p:pic>
        <p:nvPicPr>
          <p:cNvPr id="12" name="Image 2" descr="destroyed.jpg">    </p:cNvPr>
          <p:cNvPicPr>
            <a:picLocks noChangeAspect="1"/>
          </p:cNvPicPr>
          <p:nvPr/>
        </p:nvPicPr>
        <p:blipFill>
          <a:blip r:embed="rId3"/>
          <a:stretch>
            <a:fillRect/>
          </a:stretch>
        </p:blipFill>
        <p:spPr>
          <a:xfrm>
            <a:off x="6720840" y="5166360"/>
            <a:ext cx="4919472" cy="590337"/>
          </a:xfrm>
          <a:prstGeom prst="rect">
            <a:avLst/>
          </a:prstGeom>
        </p:spPr>
      </p:pic>
      <p:sp>
        <p:nvSpPr>
          <p:cNvPr id="13" name="Text 8"/>
          <p:cNvSpPr txBox="1"/>
          <p:nvPr/>
        </p:nvSpPr>
        <p:spPr>
          <a:xfrm>
            <a:off x="6720840" y="5897880"/>
            <a:ext cx="4919472" cy="320040"/>
          </a:xfrm>
          <a:prstGeom prst="rect">
            <a:avLst/>
          </a:prstGeom>
          <a:noFill/>
          <a:ln/>
        </p:spPr>
        <p:txBody>
          <a:bodyPr wrap="square" lIns="0" tIns="0" rIns="0" bIns="0" rtlCol="0" anchor="t"/>
          <a:lstStyle/>
          <a:p>
            <a:pPr indent="0" marL="0">
              <a:buNone/>
            </a:pPr>
            <a:r>
              <a:rPr lang="en-US" sz="1400" dirty="0">
                <a:solidFill>
                  <a:schemeClr val="tx1"/>
                </a:solidFill>
              </a:rPr>
              <a:t>Same 56 resources apply created. Nothing left billing.</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Running on Kubernetes, packaged with Helm</a:t>
            </a:r>
            <a:endParaRPr lang="en-US" sz="3200" dirty="0"/>
          </a:p>
        </p:txBody>
      </p:sp>
      <p:sp>
        <p:nvSpPr>
          <p:cNvPr id="3" name="node Ingress"/>
          <p:cNvSpPr/>
          <p:nvPr/>
        </p:nvSpPr>
        <p:spPr>
          <a:xfrm>
            <a:off x="548640" y="2331720"/>
            <a:ext cx="1828800" cy="914400"/>
          </a:xfrm>
          <a:prstGeom prst="roundRect">
            <a:avLst>
              <a:gd name="adj" fmla="val 10000"/>
            </a:avLst>
          </a:prstGeom>
          <a:solidFill>
            <a:schemeClr val="accent6"/>
          </a:solidFill>
          <a:ln w="12700">
            <a:solidFill>
              <a:schemeClr val="accent3"/>
            </a:solidFill>
            <a:prstDash val="solid"/>
          </a:ln>
        </p:spPr>
      </p:sp>
      <p:sp>
        <p:nvSpPr>
          <p:cNvPr id="4" name="Text 2"/>
          <p:cNvSpPr txBox="1"/>
          <p:nvPr/>
        </p:nvSpPr>
        <p:spPr>
          <a:xfrm>
            <a:off x="658368" y="2331720"/>
            <a:ext cx="1609344" cy="914400"/>
          </a:xfrm>
          <a:prstGeom prst="rect">
            <a:avLst/>
          </a:prstGeom>
          <a:noFill/>
          <a:ln/>
        </p:spPr>
        <p:txBody>
          <a:bodyPr wrap="square" lIns="0" tIns="0" rIns="0" bIns="0" rtlCol="0" anchor="ctr"/>
          <a:lstStyle/>
          <a:p>
            <a:pPr indent="0" marL="0">
              <a:buNone/>
            </a:pPr>
            <a:r>
              <a:rPr lang="en-US" sz="1400" b="1" dirty="0">
                <a:solidFill>
                  <a:schemeClr val="tx1"/>
                </a:solidFill>
              </a:rPr>
              <a:t>Ingress</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expensepilot.local</a:t>
            </a:r>
            <a:endParaRPr lang="en-US" sz="1400" dirty="0"/>
          </a:p>
        </p:txBody>
      </p:sp>
      <p:sp>
        <p:nvSpPr>
          <p:cNvPr id="5" name="node frontend svc :80"/>
          <p:cNvSpPr/>
          <p:nvPr/>
        </p:nvSpPr>
        <p:spPr>
          <a:xfrm>
            <a:off x="3063240" y="1417320"/>
            <a:ext cx="2606040" cy="777240"/>
          </a:xfrm>
          <a:prstGeom prst="roundRect">
            <a:avLst>
              <a:gd name="adj" fmla="val 11765"/>
            </a:avLst>
          </a:prstGeom>
          <a:solidFill>
            <a:schemeClr val="accent6"/>
          </a:solidFill>
          <a:ln w="12700">
            <a:solidFill>
              <a:schemeClr val="accent3"/>
            </a:solidFill>
            <a:prstDash val="solid"/>
          </a:ln>
        </p:spPr>
      </p:sp>
      <p:sp>
        <p:nvSpPr>
          <p:cNvPr id="6" name="Text 4"/>
          <p:cNvSpPr txBox="1"/>
          <p:nvPr/>
        </p:nvSpPr>
        <p:spPr>
          <a:xfrm>
            <a:off x="3172968" y="1417320"/>
            <a:ext cx="2386584" cy="777240"/>
          </a:xfrm>
          <a:prstGeom prst="rect">
            <a:avLst/>
          </a:prstGeom>
          <a:noFill/>
          <a:ln/>
        </p:spPr>
        <p:txBody>
          <a:bodyPr wrap="square" lIns="0" tIns="0" rIns="0" bIns="0" rtlCol="0" anchor="ctr"/>
          <a:lstStyle/>
          <a:p>
            <a:pPr indent="0" marL="0">
              <a:buNone/>
            </a:pPr>
            <a:r>
              <a:rPr lang="en-US" sz="1400" b="1" dirty="0">
                <a:solidFill>
                  <a:schemeClr val="tx1"/>
                </a:solidFill>
              </a:rPr>
              <a:t>frontend svc :80</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ClusterIP, 2 pods</a:t>
            </a:r>
            <a:endParaRPr lang="en-US" sz="1400" dirty="0"/>
          </a:p>
        </p:txBody>
      </p:sp>
      <p:sp>
        <p:nvSpPr>
          <p:cNvPr id="7" name="node backend svc :8000"/>
          <p:cNvSpPr/>
          <p:nvPr/>
        </p:nvSpPr>
        <p:spPr>
          <a:xfrm>
            <a:off x="3063240" y="2423160"/>
            <a:ext cx="2606040" cy="777240"/>
          </a:xfrm>
          <a:prstGeom prst="roundRect">
            <a:avLst>
              <a:gd name="adj" fmla="val 11765"/>
            </a:avLst>
          </a:prstGeom>
          <a:solidFill>
            <a:schemeClr val="accent6"/>
          </a:solidFill>
          <a:ln w="12700">
            <a:solidFill>
              <a:schemeClr val="accent3"/>
            </a:solidFill>
            <a:prstDash val="solid"/>
          </a:ln>
        </p:spPr>
      </p:sp>
      <p:sp>
        <p:nvSpPr>
          <p:cNvPr id="8" name="Text 6"/>
          <p:cNvSpPr txBox="1"/>
          <p:nvPr/>
        </p:nvSpPr>
        <p:spPr>
          <a:xfrm>
            <a:off x="3172968" y="2423160"/>
            <a:ext cx="2386584" cy="777240"/>
          </a:xfrm>
          <a:prstGeom prst="rect">
            <a:avLst/>
          </a:prstGeom>
          <a:noFill/>
          <a:ln/>
        </p:spPr>
        <p:txBody>
          <a:bodyPr wrap="square" lIns="0" tIns="0" rIns="0" bIns="0" rtlCol="0" anchor="ctr"/>
          <a:lstStyle/>
          <a:p>
            <a:pPr indent="0" marL="0">
              <a:buNone/>
            </a:pPr>
            <a:r>
              <a:rPr lang="en-US" sz="1400" b="1" dirty="0">
                <a:solidFill>
                  <a:schemeClr val="tx1"/>
                </a:solidFill>
              </a:rPr>
              <a:t>backend svc :8000</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ClusterIP, 2 pods, HPA</a:t>
            </a:r>
            <a:endParaRPr lang="en-US" sz="1400" dirty="0"/>
          </a:p>
        </p:txBody>
      </p:sp>
      <p:sp>
        <p:nvSpPr>
          <p:cNvPr id="9" name="node postgres svc :5432"/>
          <p:cNvSpPr/>
          <p:nvPr/>
        </p:nvSpPr>
        <p:spPr>
          <a:xfrm>
            <a:off x="3063240" y="3429000"/>
            <a:ext cx="2606040" cy="777240"/>
          </a:xfrm>
          <a:prstGeom prst="roundRect">
            <a:avLst>
              <a:gd name="adj" fmla="val 11765"/>
            </a:avLst>
          </a:prstGeom>
          <a:solidFill>
            <a:schemeClr val="accent6"/>
          </a:solidFill>
          <a:ln w="12700">
            <a:solidFill>
              <a:schemeClr val="accent3"/>
            </a:solidFill>
            <a:prstDash val="solid"/>
          </a:ln>
        </p:spPr>
      </p:sp>
      <p:sp>
        <p:nvSpPr>
          <p:cNvPr id="10" name="Text 8"/>
          <p:cNvSpPr txBox="1"/>
          <p:nvPr/>
        </p:nvSpPr>
        <p:spPr>
          <a:xfrm>
            <a:off x="3172968" y="3429000"/>
            <a:ext cx="2386584" cy="777240"/>
          </a:xfrm>
          <a:prstGeom prst="rect">
            <a:avLst/>
          </a:prstGeom>
          <a:noFill/>
          <a:ln/>
        </p:spPr>
        <p:txBody>
          <a:bodyPr wrap="square" lIns="0" tIns="0" rIns="0" bIns="0" rtlCol="0" anchor="ctr"/>
          <a:lstStyle/>
          <a:p>
            <a:pPr indent="0" marL="0">
              <a:buNone/>
            </a:pPr>
            <a:r>
              <a:rPr lang="en-US" sz="1400" b="1" dirty="0">
                <a:solidFill>
                  <a:schemeClr val="tx1"/>
                </a:solidFill>
              </a:rPr>
              <a:t>postgres svc :5432</a:t>
            </a:r>
            <a:endParaRPr lang="en-US" sz="1400" dirty="0"/>
          </a:p>
          <a:p>
            <a:pPr indent="0" marL="0">
              <a:buNone/>
            </a:pPr>
            <a:r>
              <a:rPr lang="en-US" sz="1100" dirty="0">
                <a:solidFill>
                  <a:schemeClr val="tx2"/>
                </a:solidFill>
                <a:latin typeface="Courier New" pitchFamily="34" charset="0"/>
                <a:ea typeface="Courier New" pitchFamily="34" charset="-122"/>
                <a:cs typeface="Courier New" pitchFamily="34" charset="-120"/>
              </a:rPr>
              <a:t>ClusterIP, PVC 5Gi</a:t>
            </a:r>
            <a:endParaRPr lang="en-US" sz="1400" dirty="0"/>
          </a:p>
        </p:txBody>
      </p:sp>
      <p:sp>
        <p:nvSpPr>
          <p:cNvPr id="11" name="Shape 9"/>
          <p:cNvSpPr/>
          <p:nvPr/>
        </p:nvSpPr>
        <p:spPr>
          <a:xfrm flipV="1">
            <a:off x="2414016" y="1810512"/>
            <a:ext cx="612648" cy="685800"/>
          </a:xfrm>
          <a:prstGeom prst="line">
            <a:avLst/>
          </a:prstGeom>
          <a:noFill/>
          <a:ln w="19050">
            <a:solidFill>
              <a:schemeClr val="accent1"/>
            </a:solidFill>
            <a:prstDash val="solid"/>
            <a:tailEnd type="triangle"/>
          </a:ln>
        </p:spPr>
      </p:sp>
      <p:sp>
        <p:nvSpPr>
          <p:cNvPr id="12" name="Shape 10"/>
          <p:cNvSpPr/>
          <p:nvPr/>
        </p:nvSpPr>
        <p:spPr>
          <a:xfrm>
            <a:off x="2414016" y="2807208"/>
            <a:ext cx="612648" cy="0"/>
          </a:xfrm>
          <a:prstGeom prst="line">
            <a:avLst/>
          </a:prstGeom>
          <a:noFill/>
          <a:ln w="19050">
            <a:solidFill>
              <a:schemeClr val="accent1"/>
            </a:solidFill>
            <a:prstDash val="solid"/>
            <a:tailEnd type="triangle"/>
          </a:ln>
        </p:spPr>
      </p:sp>
      <p:sp>
        <p:nvSpPr>
          <p:cNvPr id="13" name="Shape 11"/>
          <p:cNvSpPr/>
          <p:nvPr/>
        </p:nvSpPr>
        <p:spPr>
          <a:xfrm>
            <a:off x="4370832" y="3218688"/>
            <a:ext cx="0" cy="192024"/>
          </a:xfrm>
          <a:prstGeom prst="line">
            <a:avLst/>
          </a:prstGeom>
          <a:noFill/>
          <a:ln w="19050">
            <a:solidFill>
              <a:schemeClr val="accent1"/>
            </a:solidFill>
            <a:prstDash val="solid"/>
            <a:tailEnd type="triangle"/>
          </a:ln>
        </p:spPr>
      </p:sp>
      <p:sp>
        <p:nvSpPr>
          <p:cNvPr id="14" name="Text 12"/>
          <p:cNvSpPr txBox="1"/>
          <p:nvPr/>
        </p:nvSpPr>
        <p:spPr>
          <a:xfrm>
            <a:off x="2487168" y="1874520"/>
            <a:ext cx="274320" cy="25603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t>
            </a:r>
            <a:endParaRPr lang="en-US" sz="1200" dirty="0"/>
          </a:p>
        </p:txBody>
      </p:sp>
      <p:sp>
        <p:nvSpPr>
          <p:cNvPr id="15" name="Text 13"/>
          <p:cNvSpPr txBox="1"/>
          <p:nvPr/>
        </p:nvSpPr>
        <p:spPr>
          <a:xfrm>
            <a:off x="2450592" y="2852928"/>
            <a:ext cx="548640" cy="25603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/api</a:t>
            </a:r>
            <a:endParaRPr lang="en-US" sz="1200" dirty="0"/>
          </a:p>
        </p:txBody>
      </p:sp>
      <p:sp>
        <p:nvSpPr>
          <p:cNvPr id="16" name="helm tree"/>
          <p:cNvSpPr/>
          <p:nvPr/>
        </p:nvSpPr>
        <p:spPr>
          <a:xfrm>
            <a:off x="6172200" y="1417320"/>
            <a:ext cx="5468112" cy="2788920"/>
          </a:xfrm>
          <a:prstGeom prst="roundRect">
            <a:avLst>
              <a:gd name="adj" fmla="val 3279"/>
            </a:avLst>
          </a:prstGeom>
          <a:solidFill>
            <a:schemeClr val="bg2"/>
          </a:solidFill>
          <a:ln w="12700">
            <a:solidFill>
              <a:schemeClr val="accent3"/>
            </a:solidFill>
            <a:prstDash val="solid"/>
          </a:ln>
        </p:spPr>
      </p:sp>
      <p:sp>
        <p:nvSpPr>
          <p:cNvPr id="17" name="Text 15"/>
          <p:cNvSpPr txBox="1"/>
          <p:nvPr/>
        </p:nvSpPr>
        <p:spPr>
          <a:xfrm>
            <a:off x="6400800" y="1417320"/>
            <a:ext cx="5120640" cy="27889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helm/expensepilot/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Chart.yaml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values.yaml, values-dev.yaml, values-prod.yaml</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templates/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backend, frontend, postgres, ingress,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hpa, servicemonitor</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 helm upgrade --install expensepilot \</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    ./helm/expensepilot -n expensepilot</a:t>
            </a:r>
            <a:endParaRPr lang="en-US" sz="1200" dirty="0"/>
          </a:p>
        </p:txBody>
      </p:sp>
      <p:sp>
        <p:nvSpPr>
          <p:cNvPr id="18" name="Text 16"/>
          <p:cNvSpPr txBox="1"/>
          <p:nvPr/>
        </p:nvSpPr>
        <p:spPr>
          <a:xfrm>
            <a:off x="548640" y="4480560"/>
            <a:ext cx="539496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kubectl get pods -n expensepilot</a:t>
            </a:r>
            <a:endParaRPr lang="en-US" sz="1100" dirty="0"/>
          </a:p>
        </p:txBody>
      </p:sp>
      <p:sp>
        <p:nvSpPr>
          <p:cNvPr id="19" name="frame pods.jpg"/>
          <p:cNvSpPr/>
          <p:nvPr/>
        </p:nvSpPr>
        <p:spPr>
          <a:xfrm>
            <a:off x="521208" y="4773168"/>
            <a:ext cx="5449824" cy="1094032"/>
          </a:xfrm>
          <a:prstGeom prst="rect">
            <a:avLst/>
          </a:prstGeom>
          <a:solidFill>
            <a:schemeClr val="accent3"/>
          </a:solidFill>
          <a:ln w="9525">
            <a:solidFill>
              <a:schemeClr val="accent3"/>
            </a:solidFill>
            <a:prstDash val="solid"/>
          </a:ln>
        </p:spPr>
      </p:sp>
      <p:pic>
        <p:nvPicPr>
          <p:cNvPr id="20" name="Image 0" descr="pods.jpg">    </p:cNvPr>
          <p:cNvPicPr>
            <a:picLocks noChangeAspect="1"/>
          </p:cNvPicPr>
          <p:nvPr/>
        </p:nvPicPr>
        <p:blipFill>
          <a:blip r:embed="rId1"/>
          <a:stretch>
            <a:fillRect/>
          </a:stretch>
        </p:blipFill>
        <p:spPr>
          <a:xfrm>
            <a:off x="548640" y="4800600"/>
            <a:ext cx="5394960" cy="1039168"/>
          </a:xfrm>
          <a:prstGeom prst="rect">
            <a:avLst/>
          </a:prstGeom>
        </p:spPr>
      </p:pic>
      <p:sp>
        <p:nvSpPr>
          <p:cNvPr id="21" name="Text 18"/>
          <p:cNvSpPr txBox="1"/>
          <p:nvPr/>
        </p:nvSpPr>
        <p:spPr>
          <a:xfrm>
            <a:off x="6172200" y="4480560"/>
            <a:ext cx="539496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kubectl get svc  &amp;&amp;  helm list</a:t>
            </a:r>
            <a:endParaRPr lang="en-US" sz="1100" dirty="0"/>
          </a:p>
        </p:txBody>
      </p:sp>
      <p:sp>
        <p:nvSpPr>
          <p:cNvPr id="22" name="frame svc.jpg"/>
          <p:cNvSpPr/>
          <p:nvPr/>
        </p:nvSpPr>
        <p:spPr>
          <a:xfrm>
            <a:off x="6144768" y="4773168"/>
            <a:ext cx="5522976" cy="875081"/>
          </a:xfrm>
          <a:prstGeom prst="rect">
            <a:avLst/>
          </a:prstGeom>
          <a:solidFill>
            <a:schemeClr val="accent3"/>
          </a:solidFill>
          <a:ln w="9525">
            <a:solidFill>
              <a:schemeClr val="accent3"/>
            </a:solidFill>
            <a:prstDash val="solid"/>
          </a:ln>
        </p:spPr>
      </p:sp>
      <p:pic>
        <p:nvPicPr>
          <p:cNvPr id="23" name="Image 1" descr="svc.jpg">    </p:cNvPr>
          <p:cNvPicPr>
            <a:picLocks noChangeAspect="1"/>
          </p:cNvPicPr>
          <p:nvPr/>
        </p:nvPicPr>
        <p:blipFill>
          <a:blip r:embed="rId2"/>
          <a:stretch>
            <a:fillRect/>
          </a:stretch>
        </p:blipFill>
        <p:spPr>
          <a:xfrm>
            <a:off x="6172200" y="4800600"/>
            <a:ext cx="5468112" cy="820217"/>
          </a:xfrm>
          <a:prstGeom prst="rect">
            <a:avLst/>
          </a:prstGeom>
        </p:spPr>
      </p:pic>
      <p:sp>
        <p:nvSpPr>
          <p:cNvPr id="24" name="Text 20"/>
          <p:cNvSpPr txBox="1"/>
          <p:nvPr/>
        </p:nvSpPr>
        <p:spPr>
          <a:xfrm>
            <a:off x="6172200" y="5760720"/>
            <a:ext cx="5468112" cy="411480"/>
          </a:xfrm>
          <a:prstGeom prst="rect">
            <a:avLst/>
          </a:prstGeom>
          <a:noFill/>
          <a:ln/>
        </p:spPr>
        <p:txBody>
          <a:bodyPr wrap="square" lIns="0" tIns="0" rIns="0" bIns="0" rtlCol="0" anchor="t"/>
          <a:lstStyle/>
          <a:p>
            <a:pPr indent="0" marL="0">
              <a:buNone/>
            </a:pPr>
            <a:r>
              <a:rPr lang="en-US" sz="1200" dirty="0">
                <a:solidFill>
                  <a:schemeClr val="tx2"/>
                </a:solidFill>
              </a:rPr>
              <a:t>Demo cluster is minikube with ingress-nginx; the same chart installs on EKS.</a:t>
            </a:r>
            <a:endParaRPr lang="en-US" sz="12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From /metrics to a live Grafana panel</a:t>
            </a:r>
            <a:endParaRPr lang="en-US" sz="3200" dirty="0"/>
          </a:p>
        </p:txBody>
      </p:sp>
      <p:sp>
        <p:nvSpPr>
          <p:cNvPr id="3" name="Text 1"/>
          <p:cNvSpPr txBox="1"/>
          <p:nvPr/>
        </p:nvSpPr>
        <p:spPr>
          <a:xfrm>
            <a:off x="548640" y="1234440"/>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grafana: live panel on backend metrics</a:t>
            </a:r>
            <a:endParaRPr lang="en-US" sz="1100" dirty="0"/>
          </a:p>
        </p:txBody>
      </p:sp>
      <p:sp>
        <p:nvSpPr>
          <p:cNvPr id="4" name="frame grafana.jpg"/>
          <p:cNvSpPr/>
          <p:nvPr/>
        </p:nvSpPr>
        <p:spPr>
          <a:xfrm>
            <a:off x="521208" y="1527048"/>
            <a:ext cx="6044184" cy="2307514"/>
          </a:xfrm>
          <a:prstGeom prst="rect">
            <a:avLst/>
          </a:prstGeom>
          <a:solidFill>
            <a:schemeClr val="accent3"/>
          </a:solidFill>
          <a:ln w="9525">
            <a:solidFill>
              <a:schemeClr val="accent3"/>
            </a:solidFill>
            <a:prstDash val="solid"/>
          </a:ln>
        </p:spPr>
      </p:sp>
      <p:pic>
        <p:nvPicPr>
          <p:cNvPr id="5" name="Image 0" descr="grafana.jpg">    </p:cNvPr>
          <p:cNvPicPr>
            <a:picLocks noChangeAspect="1"/>
          </p:cNvPicPr>
          <p:nvPr/>
        </p:nvPicPr>
        <p:blipFill>
          <a:blip r:embed="rId1"/>
          <a:stretch>
            <a:fillRect/>
          </a:stretch>
        </p:blipFill>
        <p:spPr>
          <a:xfrm>
            <a:off x="548640" y="1554480"/>
            <a:ext cx="5989320" cy="2252650"/>
          </a:xfrm>
          <a:prstGeom prst="rect">
            <a:avLst/>
          </a:prstGeom>
        </p:spPr>
      </p:pic>
      <p:sp>
        <p:nvSpPr>
          <p:cNvPr id="6" name="Text 3"/>
          <p:cNvSpPr txBox="1"/>
          <p:nvPr/>
        </p:nvSpPr>
        <p:spPr>
          <a:xfrm>
            <a:off x="548640" y="4023360"/>
            <a:ext cx="1691640" cy="64008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/metrics</a:t>
            </a:r>
            <a:endParaRPr lang="en-US" sz="1300" dirty="0"/>
          </a:p>
        </p:txBody>
      </p:sp>
      <p:sp>
        <p:nvSpPr>
          <p:cNvPr id="7" name="Text 4"/>
          <p:cNvSpPr txBox="1"/>
          <p:nvPr/>
        </p:nvSpPr>
        <p:spPr>
          <a:xfrm>
            <a:off x="2286000" y="4023360"/>
            <a:ext cx="4251960" cy="640080"/>
          </a:xfrm>
          <a:prstGeom prst="rect">
            <a:avLst/>
          </a:prstGeom>
          <a:noFill/>
          <a:ln/>
        </p:spPr>
        <p:txBody>
          <a:bodyPr wrap="square" lIns="0" tIns="0" rIns="0" bIns="0" rtlCol="0" anchor="ctr"/>
          <a:lstStyle/>
          <a:p>
            <a:pPr indent="0" marL="0">
              <a:buNone/>
            </a:pPr>
            <a:r>
              <a:rPr lang="en-US" sz="1400" dirty="0">
                <a:solidFill>
                  <a:schemeClr val="tx1"/>
                </a:solidFill>
              </a:rPr>
              <a:t>prometheus-fastapi-instrumentator records request count and latency per route</a:t>
            </a:r>
            <a:endParaRPr lang="en-US" sz="1400" dirty="0"/>
          </a:p>
        </p:txBody>
      </p:sp>
      <p:sp>
        <p:nvSpPr>
          <p:cNvPr id="8" name="Text 5"/>
          <p:cNvSpPr txBox="1"/>
          <p:nvPr/>
        </p:nvSpPr>
        <p:spPr>
          <a:xfrm>
            <a:off x="548640" y="4754880"/>
            <a:ext cx="1691640" cy="64008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ServiceMonitor</a:t>
            </a:r>
            <a:endParaRPr lang="en-US" sz="1300" dirty="0"/>
          </a:p>
        </p:txBody>
      </p:sp>
      <p:sp>
        <p:nvSpPr>
          <p:cNvPr id="9" name="Text 6"/>
          <p:cNvSpPr txBox="1"/>
          <p:nvPr/>
        </p:nvSpPr>
        <p:spPr>
          <a:xfrm>
            <a:off x="2286000" y="4754880"/>
            <a:ext cx="4251960" cy="640080"/>
          </a:xfrm>
          <a:prstGeom prst="rect">
            <a:avLst/>
          </a:prstGeom>
          <a:noFill/>
          <a:ln/>
        </p:spPr>
        <p:txBody>
          <a:bodyPr wrap="square" lIns="0" tIns="0" rIns="0" bIns="0" rtlCol="0" anchor="ctr"/>
          <a:lstStyle/>
          <a:p>
            <a:pPr indent="0" marL="0">
              <a:buNone/>
            </a:pPr>
            <a:r>
              <a:rPr lang="en-US" sz="1400" dirty="0">
                <a:solidFill>
                  <a:schemeClr val="tx1"/>
                </a:solidFill>
              </a:rPr>
              <a:t>kube-prometheus-stack scrapes the backend every 15s, target is UP</a:t>
            </a:r>
            <a:endParaRPr lang="en-US" sz="1400" dirty="0"/>
          </a:p>
        </p:txBody>
      </p:sp>
      <p:sp>
        <p:nvSpPr>
          <p:cNvPr id="10" name="Text 7"/>
          <p:cNvSpPr txBox="1"/>
          <p:nvPr/>
        </p:nvSpPr>
        <p:spPr>
          <a:xfrm>
            <a:off x="548640" y="5486400"/>
            <a:ext cx="1691640" cy="64008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Alert rules</a:t>
            </a:r>
            <a:endParaRPr lang="en-US" sz="1300" dirty="0"/>
          </a:p>
        </p:txBody>
      </p:sp>
      <p:sp>
        <p:nvSpPr>
          <p:cNvPr id="11" name="Text 8"/>
          <p:cNvSpPr txBox="1"/>
          <p:nvPr/>
        </p:nvSpPr>
        <p:spPr>
          <a:xfrm>
            <a:off x="2286000" y="5486400"/>
            <a:ext cx="4251960" cy="640080"/>
          </a:xfrm>
          <a:prstGeom prst="rect">
            <a:avLst/>
          </a:prstGeom>
          <a:noFill/>
          <a:ln/>
        </p:spPr>
        <p:txBody>
          <a:bodyPr wrap="square" lIns="0" tIns="0" rIns="0" bIns="0" rtlCol="0" anchor="ctr"/>
          <a:lstStyle/>
          <a:p>
            <a:pPr indent="0" marL="0">
              <a:buNone/>
            </a:pPr>
            <a:r>
              <a:rPr lang="en-US" sz="1400" dirty="0">
                <a:solidFill>
                  <a:schemeClr val="tx1"/>
                </a:solidFill>
              </a:rPr>
              <a:t>Backend down for 1 min, or 5xx above 5% of traffic</a:t>
            </a:r>
            <a:endParaRPr lang="en-US" sz="1400" dirty="0"/>
          </a:p>
        </p:txBody>
      </p:sp>
      <p:sp>
        <p:nvSpPr>
          <p:cNvPr id="12" name="Text 9"/>
          <p:cNvSpPr txBox="1"/>
          <p:nvPr/>
        </p:nvSpPr>
        <p:spPr>
          <a:xfrm>
            <a:off x="6858000" y="1234440"/>
            <a:ext cx="475488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 curl localhost:8000/metrics | head</a:t>
            </a:r>
            <a:endParaRPr lang="en-US" sz="1100" dirty="0"/>
          </a:p>
        </p:txBody>
      </p:sp>
      <p:sp>
        <p:nvSpPr>
          <p:cNvPr id="13" name="frame metrics.jpg"/>
          <p:cNvSpPr/>
          <p:nvPr/>
        </p:nvSpPr>
        <p:spPr>
          <a:xfrm>
            <a:off x="6830568" y="1527048"/>
            <a:ext cx="4837176" cy="1966605"/>
          </a:xfrm>
          <a:prstGeom prst="rect">
            <a:avLst/>
          </a:prstGeom>
          <a:solidFill>
            <a:schemeClr val="accent3"/>
          </a:solidFill>
          <a:ln w="9525">
            <a:solidFill>
              <a:schemeClr val="accent3"/>
            </a:solidFill>
            <a:prstDash val="solid"/>
          </a:ln>
        </p:spPr>
      </p:sp>
      <p:pic>
        <p:nvPicPr>
          <p:cNvPr id="14" name="Image 1" descr="metrics.jpg">    </p:cNvPr>
          <p:cNvPicPr>
            <a:picLocks noChangeAspect="1"/>
          </p:cNvPicPr>
          <p:nvPr/>
        </p:nvPicPr>
        <p:blipFill>
          <a:blip r:embed="rId2"/>
          <a:stretch>
            <a:fillRect/>
          </a:stretch>
        </p:blipFill>
        <p:spPr>
          <a:xfrm>
            <a:off x="6858000" y="1554480"/>
            <a:ext cx="4782312" cy="1911741"/>
          </a:xfrm>
          <a:prstGeom prst="rect">
            <a:avLst/>
          </a:prstGeom>
        </p:spPr>
      </p:pic>
      <p:sp>
        <p:nvSpPr>
          <p:cNvPr id="15" name="Text 11"/>
          <p:cNvSpPr txBox="1"/>
          <p:nvPr/>
        </p:nvSpPr>
        <p:spPr>
          <a:xfrm>
            <a:off x="6858000" y="3657600"/>
            <a:ext cx="475488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prometheus: up{} by target</a:t>
            </a:r>
            <a:endParaRPr lang="en-US" sz="1100" dirty="0"/>
          </a:p>
        </p:txBody>
      </p:sp>
      <p:sp>
        <p:nvSpPr>
          <p:cNvPr id="16" name="frame targets.jpg"/>
          <p:cNvSpPr/>
          <p:nvPr/>
        </p:nvSpPr>
        <p:spPr>
          <a:xfrm>
            <a:off x="6830568" y="3950208"/>
            <a:ext cx="4837176" cy="1925279"/>
          </a:xfrm>
          <a:prstGeom prst="rect">
            <a:avLst/>
          </a:prstGeom>
          <a:solidFill>
            <a:schemeClr val="accent3"/>
          </a:solidFill>
          <a:ln w="9525">
            <a:solidFill>
              <a:schemeClr val="accent3"/>
            </a:solidFill>
            <a:prstDash val="solid"/>
          </a:ln>
        </p:spPr>
      </p:sp>
      <p:pic>
        <p:nvPicPr>
          <p:cNvPr id="17" name="Image 2" descr="targets.jpg">    </p:cNvPr>
          <p:cNvPicPr>
            <a:picLocks noChangeAspect="1"/>
          </p:cNvPicPr>
          <p:nvPr/>
        </p:nvPicPr>
        <p:blipFill>
          <a:blip r:embed="rId3"/>
          <a:stretch>
            <a:fillRect/>
          </a:stretch>
        </p:blipFill>
        <p:spPr>
          <a:xfrm>
            <a:off x="6858000" y="3977640"/>
            <a:ext cx="4782312" cy="1870415"/>
          </a:xfrm>
          <a:prstGeom prst="rect">
            <a:avLst/>
          </a:prstGeom>
        </p:spPr>
      </p:pic>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Extra: GitOps and a troubleshooting lab</a:t>
            </a:r>
            <a:endParaRPr lang="en-US" sz="3200" dirty="0"/>
          </a:p>
        </p:txBody>
      </p:sp>
      <p:sp>
        <p:nvSpPr>
          <p:cNvPr id="3" name="Text 1"/>
          <p:cNvSpPr txBox="1"/>
          <p:nvPr/>
        </p:nvSpPr>
        <p:spPr>
          <a:xfrm>
            <a:off x="548640" y="1234440"/>
            <a:ext cx="59436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argocd: expensepilot-capstone, Healthy + Synced</a:t>
            </a:r>
            <a:endParaRPr lang="en-US" sz="1100" dirty="0"/>
          </a:p>
        </p:txBody>
      </p:sp>
      <p:sp>
        <p:nvSpPr>
          <p:cNvPr id="4" name="frame argocd.jpg"/>
          <p:cNvSpPr/>
          <p:nvPr/>
        </p:nvSpPr>
        <p:spPr>
          <a:xfrm>
            <a:off x="521208" y="1527048"/>
            <a:ext cx="5907024" cy="3858768"/>
          </a:xfrm>
          <a:prstGeom prst="rect">
            <a:avLst/>
          </a:prstGeom>
          <a:solidFill>
            <a:schemeClr val="accent3"/>
          </a:solidFill>
          <a:ln w="9525">
            <a:solidFill>
              <a:schemeClr val="accent3"/>
            </a:solidFill>
            <a:prstDash val="solid"/>
          </a:ln>
        </p:spPr>
      </p:sp>
      <p:pic>
        <p:nvPicPr>
          <p:cNvPr id="5" name="Image 0" descr="argocd.jpg">    </p:cNvPr>
          <p:cNvPicPr>
            <a:picLocks noChangeAspect="1"/>
          </p:cNvPicPr>
          <p:nvPr/>
        </p:nvPicPr>
        <p:blipFill>
          <a:blip r:embed="rId1"/>
          <a:stretch>
            <a:fillRect/>
          </a:stretch>
        </p:blipFill>
        <p:spPr>
          <a:xfrm>
            <a:off x="548640" y="1554480"/>
            <a:ext cx="5852160" cy="3803904"/>
          </a:xfrm>
          <a:prstGeom prst="rect">
            <a:avLst/>
          </a:prstGeom>
        </p:spPr>
      </p:pic>
      <p:sp>
        <p:nvSpPr>
          <p:cNvPr id="6" name="Text 3"/>
          <p:cNvSpPr txBox="1"/>
          <p:nvPr/>
        </p:nvSpPr>
        <p:spPr>
          <a:xfrm>
            <a:off x="548640" y="5486400"/>
            <a:ext cx="5852160" cy="640080"/>
          </a:xfrm>
          <a:prstGeom prst="rect">
            <a:avLst/>
          </a:prstGeom>
          <a:noFill/>
          <a:ln/>
        </p:spPr>
        <p:txBody>
          <a:bodyPr wrap="square" lIns="0" tIns="0" rIns="0" bIns="0" rtlCol="0" anchor="t"/>
          <a:lstStyle/>
          <a:p>
            <a:pPr indent="0" marL="0">
              <a:buNone/>
            </a:pPr>
            <a:r>
              <a:rPr lang="en-US" sz="1400" dirty="0">
                <a:solidFill>
                  <a:schemeClr val="tx2"/>
                </a:solidFill>
              </a:rPr>
              <a:t>ArgoCD watches helm/expensepilot in the repo and reverts any manual kubectl change.</a:t>
            </a:r>
            <a:endParaRPr lang="en-US" sz="1400" dirty="0"/>
          </a:p>
        </p:txBody>
      </p:sp>
      <p:sp>
        <p:nvSpPr>
          <p:cNvPr id="7" name="Text 4"/>
          <p:cNvSpPr txBox="1"/>
          <p:nvPr/>
        </p:nvSpPr>
        <p:spPr>
          <a:xfrm>
            <a:off x="6812280" y="1463040"/>
            <a:ext cx="4846320" cy="411480"/>
          </a:xfrm>
          <a:prstGeom prst="rect">
            <a:avLst/>
          </a:prstGeom>
          <a:noFill/>
          <a:ln/>
        </p:spPr>
        <p:txBody>
          <a:bodyPr wrap="square" lIns="0" tIns="0" rIns="0" bIns="0" rtlCol="0" anchor="ctr"/>
          <a:lstStyle/>
          <a:p>
            <a:pPr indent="0" marL="0">
              <a:buNone/>
            </a:pPr>
            <a:r>
              <a:rPr lang="en-US" sz="1700" b="1" dirty="0">
                <a:solidFill>
                  <a:schemeClr val="tx1"/>
                </a:solidFill>
                <a:latin typeface="Arial" pitchFamily="34" charset="0"/>
                <a:ea typeface="Arial" pitchFamily="34" charset="-122"/>
                <a:cs typeface="Arial" pitchFamily="34" charset="-120"/>
              </a:rPr>
              <a:t>Five failures I broke on purpose, then fixed</a:t>
            </a:r>
            <a:endParaRPr lang="en-US" sz="1700" dirty="0"/>
          </a:p>
        </p:txBody>
      </p:sp>
      <p:sp>
        <p:nvSpPr>
          <p:cNvPr id="8" name="incident 1"/>
          <p:cNvSpPr/>
          <p:nvPr/>
        </p:nvSpPr>
        <p:spPr>
          <a:xfrm>
            <a:off x="6812280" y="2057400"/>
            <a:ext cx="4828032" cy="621792"/>
          </a:xfrm>
          <a:prstGeom prst="roundRect">
            <a:avLst>
              <a:gd name="adj" fmla="val 14706"/>
            </a:avLst>
          </a:prstGeom>
          <a:solidFill>
            <a:schemeClr val="bg2"/>
          </a:solidFill>
          <a:ln w="12700">
            <a:solidFill>
              <a:schemeClr val="accent3"/>
            </a:solidFill>
            <a:prstDash val="solid"/>
          </a:ln>
        </p:spPr>
      </p:sp>
      <p:sp>
        <p:nvSpPr>
          <p:cNvPr id="9" name="Text 6"/>
          <p:cNvSpPr txBox="1"/>
          <p:nvPr/>
        </p:nvSpPr>
        <p:spPr>
          <a:xfrm>
            <a:off x="6967728" y="2057400"/>
            <a:ext cx="457200" cy="621792"/>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01</a:t>
            </a:r>
            <a:endParaRPr lang="en-US" sz="1400" dirty="0"/>
          </a:p>
        </p:txBody>
      </p:sp>
      <p:sp>
        <p:nvSpPr>
          <p:cNvPr id="10" name="Text 7"/>
          <p:cNvSpPr txBox="1"/>
          <p:nvPr/>
        </p:nvSpPr>
        <p:spPr>
          <a:xfrm>
            <a:off x="7498080" y="2057400"/>
            <a:ext cx="4023360" cy="621792"/>
          </a:xfrm>
          <a:prstGeom prst="rect">
            <a:avLst/>
          </a:prstGeom>
          <a:noFill/>
          <a:ln/>
        </p:spPr>
        <p:txBody>
          <a:bodyPr wrap="square" lIns="0" tIns="0" rIns="0" bIns="0" rtlCol="0" anchor="ctr"/>
          <a:lstStyle/>
          <a:p>
            <a:pPr indent="0" marL="0">
              <a:buNone/>
            </a:pPr>
            <a:r>
              <a:rPr lang="en-US" sz="1400" b="1" dirty="0">
                <a:solidFill>
                  <a:schemeClr val="tx1"/>
                </a:solidFill>
              </a:rPr>
              <a:t>ImagePullBackOff</a:t>
            </a:r>
            <a:pPr indent="0" marL="0">
              <a:buNone/>
            </a:pPr>
            <a:r>
              <a:rPr lang="en-US" sz="1300" dirty="0">
                <a:solidFill>
                  <a:schemeClr val="tx2"/>
                </a:solidFill>
              </a:rPr>
              <a:t>   image tag that does not exist</a:t>
            </a:r>
            <a:endParaRPr lang="en-US" sz="1400" dirty="0"/>
          </a:p>
        </p:txBody>
      </p:sp>
      <p:sp>
        <p:nvSpPr>
          <p:cNvPr id="11" name="incident 2"/>
          <p:cNvSpPr/>
          <p:nvPr/>
        </p:nvSpPr>
        <p:spPr>
          <a:xfrm>
            <a:off x="6812280" y="2807208"/>
            <a:ext cx="4828032" cy="621792"/>
          </a:xfrm>
          <a:prstGeom prst="roundRect">
            <a:avLst>
              <a:gd name="adj" fmla="val 14706"/>
            </a:avLst>
          </a:prstGeom>
          <a:solidFill>
            <a:schemeClr val="bg2"/>
          </a:solidFill>
          <a:ln w="12700">
            <a:solidFill>
              <a:schemeClr val="accent3"/>
            </a:solidFill>
            <a:prstDash val="solid"/>
          </a:ln>
        </p:spPr>
      </p:sp>
      <p:sp>
        <p:nvSpPr>
          <p:cNvPr id="12" name="Text 9"/>
          <p:cNvSpPr txBox="1"/>
          <p:nvPr/>
        </p:nvSpPr>
        <p:spPr>
          <a:xfrm>
            <a:off x="6967728" y="2807208"/>
            <a:ext cx="457200" cy="621792"/>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02</a:t>
            </a:r>
            <a:endParaRPr lang="en-US" sz="1400" dirty="0"/>
          </a:p>
        </p:txBody>
      </p:sp>
      <p:sp>
        <p:nvSpPr>
          <p:cNvPr id="13" name="Text 10"/>
          <p:cNvSpPr txBox="1"/>
          <p:nvPr/>
        </p:nvSpPr>
        <p:spPr>
          <a:xfrm>
            <a:off x="7498080" y="2807208"/>
            <a:ext cx="4023360" cy="621792"/>
          </a:xfrm>
          <a:prstGeom prst="rect">
            <a:avLst/>
          </a:prstGeom>
          <a:noFill/>
          <a:ln/>
        </p:spPr>
        <p:txBody>
          <a:bodyPr wrap="square" lIns="0" tIns="0" rIns="0" bIns="0" rtlCol="0" anchor="ctr"/>
          <a:lstStyle/>
          <a:p>
            <a:pPr indent="0" marL="0">
              <a:buNone/>
            </a:pPr>
            <a:r>
              <a:rPr lang="en-US" sz="1400" b="1" dirty="0">
                <a:solidFill>
                  <a:schemeClr val="tx1"/>
                </a:solidFill>
              </a:rPr>
              <a:t>CrashLoopBackOff</a:t>
            </a:r>
            <a:pPr indent="0" marL="0">
              <a:buNone/>
            </a:pPr>
            <a:r>
              <a:rPr lang="en-US" sz="1300" dirty="0">
                <a:solidFill>
                  <a:schemeClr val="tx2"/>
                </a:solidFill>
              </a:rPr>
              <a:t>   database host unreachable</a:t>
            </a:r>
            <a:endParaRPr lang="en-US" sz="1400" dirty="0"/>
          </a:p>
        </p:txBody>
      </p:sp>
      <p:sp>
        <p:nvSpPr>
          <p:cNvPr id="14" name="incident 3"/>
          <p:cNvSpPr/>
          <p:nvPr/>
        </p:nvSpPr>
        <p:spPr>
          <a:xfrm>
            <a:off x="6812280" y="3557016"/>
            <a:ext cx="4828032" cy="621792"/>
          </a:xfrm>
          <a:prstGeom prst="roundRect">
            <a:avLst>
              <a:gd name="adj" fmla="val 14706"/>
            </a:avLst>
          </a:prstGeom>
          <a:solidFill>
            <a:schemeClr val="bg2"/>
          </a:solidFill>
          <a:ln w="12700">
            <a:solidFill>
              <a:schemeClr val="accent3"/>
            </a:solidFill>
            <a:prstDash val="solid"/>
          </a:ln>
        </p:spPr>
      </p:sp>
      <p:sp>
        <p:nvSpPr>
          <p:cNvPr id="15" name="Text 12"/>
          <p:cNvSpPr txBox="1"/>
          <p:nvPr/>
        </p:nvSpPr>
        <p:spPr>
          <a:xfrm>
            <a:off x="6967728" y="3557016"/>
            <a:ext cx="457200" cy="621792"/>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03</a:t>
            </a:r>
            <a:endParaRPr lang="en-US" sz="1400" dirty="0"/>
          </a:p>
        </p:txBody>
      </p:sp>
      <p:sp>
        <p:nvSpPr>
          <p:cNvPr id="16" name="Text 13"/>
          <p:cNvSpPr txBox="1"/>
          <p:nvPr/>
        </p:nvSpPr>
        <p:spPr>
          <a:xfrm>
            <a:off x="7498080" y="3557016"/>
            <a:ext cx="4023360" cy="621792"/>
          </a:xfrm>
          <a:prstGeom prst="rect">
            <a:avLst/>
          </a:prstGeom>
          <a:noFill/>
          <a:ln/>
        </p:spPr>
        <p:txBody>
          <a:bodyPr wrap="square" lIns="0" tIns="0" rIns="0" bIns="0" rtlCol="0" anchor="ctr"/>
          <a:lstStyle/>
          <a:p>
            <a:pPr indent="0" marL="0">
              <a:buNone/>
            </a:pPr>
            <a:r>
              <a:rPr lang="en-US" sz="1400" b="1" dirty="0">
                <a:solidFill>
                  <a:schemeClr val="tx1"/>
                </a:solidFill>
              </a:rPr>
              <a:t>Service, no endpoints</a:t>
            </a:r>
            <a:pPr indent="0" marL="0">
              <a:buNone/>
            </a:pPr>
            <a:r>
              <a:rPr lang="en-US" sz="1300" dirty="0">
                <a:solidFill>
                  <a:schemeClr val="tx2"/>
                </a:solidFill>
              </a:rPr>
              <a:t>   selector label mismatch</a:t>
            </a:r>
            <a:endParaRPr lang="en-US" sz="1400" dirty="0"/>
          </a:p>
        </p:txBody>
      </p:sp>
      <p:sp>
        <p:nvSpPr>
          <p:cNvPr id="17" name="incident 4"/>
          <p:cNvSpPr/>
          <p:nvPr/>
        </p:nvSpPr>
        <p:spPr>
          <a:xfrm>
            <a:off x="6812280" y="4306824"/>
            <a:ext cx="4828032" cy="621792"/>
          </a:xfrm>
          <a:prstGeom prst="roundRect">
            <a:avLst>
              <a:gd name="adj" fmla="val 14706"/>
            </a:avLst>
          </a:prstGeom>
          <a:solidFill>
            <a:schemeClr val="bg2"/>
          </a:solidFill>
          <a:ln w="12700">
            <a:solidFill>
              <a:schemeClr val="accent3"/>
            </a:solidFill>
            <a:prstDash val="solid"/>
          </a:ln>
        </p:spPr>
      </p:sp>
      <p:sp>
        <p:nvSpPr>
          <p:cNvPr id="18" name="Text 15"/>
          <p:cNvSpPr txBox="1"/>
          <p:nvPr/>
        </p:nvSpPr>
        <p:spPr>
          <a:xfrm>
            <a:off x="6967728" y="4306824"/>
            <a:ext cx="457200" cy="621792"/>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04</a:t>
            </a:r>
            <a:endParaRPr lang="en-US" sz="1400" dirty="0"/>
          </a:p>
        </p:txBody>
      </p:sp>
      <p:sp>
        <p:nvSpPr>
          <p:cNvPr id="19" name="Text 16"/>
          <p:cNvSpPr txBox="1"/>
          <p:nvPr/>
        </p:nvSpPr>
        <p:spPr>
          <a:xfrm>
            <a:off x="7498080" y="4306824"/>
            <a:ext cx="4023360" cy="621792"/>
          </a:xfrm>
          <a:prstGeom prst="rect">
            <a:avLst/>
          </a:prstGeom>
          <a:noFill/>
          <a:ln/>
        </p:spPr>
        <p:txBody>
          <a:bodyPr wrap="square" lIns="0" tIns="0" rIns="0" bIns="0" rtlCol="0" anchor="ctr"/>
          <a:lstStyle/>
          <a:p>
            <a:pPr indent="0" marL="0">
              <a:buNone/>
            </a:pPr>
            <a:r>
              <a:rPr lang="en-US" sz="1400" b="1" dirty="0">
                <a:solidFill>
                  <a:schemeClr val="tx1"/>
                </a:solidFill>
              </a:rPr>
              <a:t>Pod stuck Pending</a:t>
            </a:r>
            <a:pPr indent="0" marL="0">
              <a:buNone/>
            </a:pPr>
            <a:r>
              <a:rPr lang="en-US" sz="1300" dirty="0">
                <a:solidFill>
                  <a:schemeClr val="tx2"/>
                </a:solidFill>
              </a:rPr>
              <a:t>   PVC never bound</a:t>
            </a:r>
            <a:endParaRPr lang="en-US" sz="1400" dirty="0"/>
          </a:p>
        </p:txBody>
      </p:sp>
      <p:sp>
        <p:nvSpPr>
          <p:cNvPr id="20" name="incident 5"/>
          <p:cNvSpPr/>
          <p:nvPr/>
        </p:nvSpPr>
        <p:spPr>
          <a:xfrm>
            <a:off x="6812280" y="5056632"/>
            <a:ext cx="4828032" cy="621792"/>
          </a:xfrm>
          <a:prstGeom prst="roundRect">
            <a:avLst>
              <a:gd name="adj" fmla="val 14706"/>
            </a:avLst>
          </a:prstGeom>
          <a:solidFill>
            <a:schemeClr val="bg2"/>
          </a:solidFill>
          <a:ln w="12700">
            <a:solidFill>
              <a:schemeClr val="accent3"/>
            </a:solidFill>
            <a:prstDash val="solid"/>
          </a:ln>
        </p:spPr>
      </p:sp>
      <p:sp>
        <p:nvSpPr>
          <p:cNvPr id="21" name="Text 18"/>
          <p:cNvSpPr txBox="1"/>
          <p:nvPr/>
        </p:nvSpPr>
        <p:spPr>
          <a:xfrm>
            <a:off x="6967728" y="5056632"/>
            <a:ext cx="457200" cy="621792"/>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05</a:t>
            </a:r>
            <a:endParaRPr lang="en-US" sz="1400" dirty="0"/>
          </a:p>
        </p:txBody>
      </p:sp>
      <p:sp>
        <p:nvSpPr>
          <p:cNvPr id="22" name="Text 19"/>
          <p:cNvSpPr txBox="1"/>
          <p:nvPr/>
        </p:nvSpPr>
        <p:spPr>
          <a:xfrm>
            <a:off x="7498080" y="5056632"/>
            <a:ext cx="4023360" cy="621792"/>
          </a:xfrm>
          <a:prstGeom prst="rect">
            <a:avLst/>
          </a:prstGeom>
          <a:noFill/>
          <a:ln/>
        </p:spPr>
        <p:txBody>
          <a:bodyPr wrap="square" lIns="0" tIns="0" rIns="0" bIns="0" rtlCol="0" anchor="ctr"/>
          <a:lstStyle/>
          <a:p>
            <a:pPr indent="0" marL="0">
              <a:buNone/>
            </a:pPr>
            <a:r>
              <a:rPr lang="en-US" sz="1400" b="1" dirty="0">
                <a:solidFill>
                  <a:schemeClr val="tx1"/>
                </a:solidFill>
              </a:rPr>
              <a:t>Ingress 502</a:t>
            </a:r>
            <a:pPr indent="0" marL="0">
              <a:buNone/>
            </a:pPr>
            <a:r>
              <a:rPr lang="en-US" sz="1300" dirty="0">
                <a:solidFill>
                  <a:schemeClr val="tx2"/>
                </a:solidFill>
              </a:rPr>
              <a:t>   service port mismatch</a:t>
            </a:r>
            <a:endParaRPr lang="en-US" sz="1400" dirty="0"/>
          </a:p>
        </p:txBody>
      </p:sp>
      <p:sp>
        <p:nvSpPr>
          <p:cNvPr id="23" name="Text 20"/>
          <p:cNvSpPr txBox="1"/>
          <p:nvPr/>
        </p:nvSpPr>
        <p:spPr>
          <a:xfrm>
            <a:off x="6812280" y="5852160"/>
            <a:ext cx="484632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root cause + fix for each: troubleshooting/SOLUTIONS.md</a:t>
            </a:r>
            <a:endParaRPr lang="en-US" sz="11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326880" cy="777240"/>
          </a:xfrm>
          <a:prstGeom prst="rect">
            <a:avLst/>
          </a:prstGeom>
          <a:noFill/>
          <a:ln/>
        </p:spPr>
        <p:txBody>
          <a:bodyPr wrap="square" lIns="0" tIns="0" rIns="0" bIns="0" rtlCol="0" anchor="ctr"/>
          <a:lstStyle/>
          <a:p>
            <a:pPr algn="l" indent="0" marL="0">
              <a:buNone/>
            </a:pPr>
            <a:r>
              <a:rPr lang="en-US" sz="3200" b="1" dirty="0">
                <a:solidFill>
                  <a:schemeClr val="tx1"/>
                </a:solidFill>
              </a:rPr>
              <a:t>Live demo: one commit, end to end</a:t>
            </a:r>
            <a:endParaRPr lang="en-US" sz="3200" dirty="0"/>
          </a:p>
        </p:txBody>
      </p:sp>
      <p:sp>
        <p:nvSpPr>
          <p:cNvPr id="3" name="step 1"/>
          <p:cNvSpPr/>
          <p:nvPr/>
        </p:nvSpPr>
        <p:spPr>
          <a:xfrm>
            <a:off x="548640" y="1572768"/>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548640" y="1572768"/>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325880" y="1463040"/>
            <a:ext cx="4297680" cy="822960"/>
          </a:xfrm>
          <a:prstGeom prst="rect">
            <a:avLst/>
          </a:prstGeom>
          <a:noFill/>
          <a:ln/>
        </p:spPr>
        <p:txBody>
          <a:bodyPr wrap="square" lIns="0" tIns="0" rIns="0" bIns="0" rtlCol="0" anchor="ctr"/>
          <a:lstStyle/>
          <a:p>
            <a:pPr indent="0" marL="0">
              <a:buNone/>
            </a:pPr>
            <a:r>
              <a:rPr lang="en-US" sz="1700" b="1" dirty="0">
                <a:solidFill>
                  <a:schemeClr val="tx1"/>
                </a:solidFill>
              </a:rPr>
              <a:t>Commit</a:t>
            </a:r>
            <a:endParaRPr lang="en-US" sz="1700" dirty="0"/>
          </a:p>
          <a:p>
            <a:pPr indent="0" marL="0">
              <a:buNone/>
            </a:pPr>
            <a:r>
              <a:rPr lang="en-US" sz="1400" dirty="0">
                <a:solidFill>
                  <a:schemeClr val="tx2"/>
                </a:solidFill>
              </a:rPr>
              <a:t>Change the dashboard heading and push to main</a:t>
            </a:r>
            <a:endParaRPr lang="en-US" sz="1700" dirty="0"/>
          </a:p>
        </p:txBody>
      </p:sp>
      <p:sp>
        <p:nvSpPr>
          <p:cNvPr id="6" name="step 2"/>
          <p:cNvSpPr/>
          <p:nvPr/>
        </p:nvSpPr>
        <p:spPr>
          <a:xfrm>
            <a:off x="548640" y="2596896"/>
            <a:ext cx="566928" cy="566928"/>
          </a:xfrm>
          <a:prstGeom prst="ellipse">
            <a:avLst/>
          </a:prstGeom>
          <a:solidFill>
            <a:schemeClr val="accent1"/>
          </a:solidFill>
          <a:ln w="12700">
            <a:solidFill>
              <a:schemeClr val="accent1"/>
            </a:solidFill>
            <a:prstDash val="solid"/>
          </a:ln>
        </p:spPr>
      </p:sp>
      <p:sp>
        <p:nvSpPr>
          <p:cNvPr id="7" name="Text 5"/>
          <p:cNvSpPr txBox="1"/>
          <p:nvPr/>
        </p:nvSpPr>
        <p:spPr>
          <a:xfrm>
            <a:off x="548640" y="259689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325880" y="2487168"/>
            <a:ext cx="4297680" cy="822960"/>
          </a:xfrm>
          <a:prstGeom prst="rect">
            <a:avLst/>
          </a:prstGeom>
          <a:noFill/>
          <a:ln/>
        </p:spPr>
        <p:txBody>
          <a:bodyPr wrap="square" lIns="0" tIns="0" rIns="0" bIns="0" rtlCol="0" anchor="ctr"/>
          <a:lstStyle/>
          <a:p>
            <a:pPr indent="0" marL="0">
              <a:buNone/>
            </a:pPr>
            <a:r>
              <a:rPr lang="en-US" sz="1700" b="1" dirty="0">
                <a:solidFill>
                  <a:schemeClr val="tx1"/>
                </a:solidFill>
              </a:rPr>
              <a:t>Pipeline</a:t>
            </a:r>
            <a:endParaRPr lang="en-US" sz="1700" dirty="0"/>
          </a:p>
          <a:p>
            <a:pPr indent="0" marL="0">
              <a:buNone/>
            </a:pPr>
            <a:r>
              <a:rPr lang="en-US" sz="1400" dirty="0">
                <a:solidFill>
                  <a:schemeClr val="tx2"/>
                </a:solidFill>
              </a:rPr>
              <a:t>Tests and scans pass, new :sha image in GHCR</a:t>
            </a:r>
            <a:endParaRPr lang="en-US" sz="1700" dirty="0"/>
          </a:p>
        </p:txBody>
      </p:sp>
      <p:sp>
        <p:nvSpPr>
          <p:cNvPr id="9" name="step 3"/>
          <p:cNvSpPr/>
          <p:nvPr/>
        </p:nvSpPr>
        <p:spPr>
          <a:xfrm>
            <a:off x="548640" y="3621024"/>
            <a:ext cx="566928" cy="566928"/>
          </a:xfrm>
          <a:prstGeom prst="ellipse">
            <a:avLst/>
          </a:prstGeom>
          <a:solidFill>
            <a:schemeClr val="accent1"/>
          </a:solidFill>
          <a:ln w="12700">
            <a:solidFill>
              <a:schemeClr val="accent1"/>
            </a:solidFill>
            <a:prstDash val="solid"/>
          </a:ln>
        </p:spPr>
      </p:sp>
      <p:sp>
        <p:nvSpPr>
          <p:cNvPr id="10" name="Text 8"/>
          <p:cNvSpPr txBox="1"/>
          <p:nvPr/>
        </p:nvSpPr>
        <p:spPr>
          <a:xfrm>
            <a:off x="548640" y="3621024"/>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325880" y="3511296"/>
            <a:ext cx="4297680" cy="822960"/>
          </a:xfrm>
          <a:prstGeom prst="rect">
            <a:avLst/>
          </a:prstGeom>
          <a:noFill/>
          <a:ln/>
        </p:spPr>
        <p:txBody>
          <a:bodyPr wrap="square" lIns="0" tIns="0" rIns="0" bIns="0" rtlCol="0" anchor="ctr"/>
          <a:lstStyle/>
          <a:p>
            <a:pPr indent="0" marL="0">
              <a:buNone/>
            </a:pPr>
            <a:r>
              <a:rPr lang="en-US" sz="1700" b="1" dirty="0">
                <a:solidFill>
                  <a:schemeClr val="tx1"/>
                </a:solidFill>
              </a:rPr>
              <a:t>Roll out</a:t>
            </a:r>
            <a:endParaRPr lang="en-US" sz="1700" dirty="0"/>
          </a:p>
          <a:p>
            <a:pPr indent="0" marL="0">
              <a:buNone/>
            </a:pPr>
            <a:r>
              <a:rPr lang="en-US" sz="1400" dirty="0">
                <a:solidFill>
                  <a:schemeClr val="tx2"/>
                </a:solidFill>
              </a:rPr>
              <a:t>helm upgrade with the new tag (or ArgoCD sync); rollout status waits for new pods</a:t>
            </a:r>
            <a:endParaRPr lang="en-US" sz="1700" dirty="0"/>
          </a:p>
        </p:txBody>
      </p:sp>
      <p:sp>
        <p:nvSpPr>
          <p:cNvPr id="12" name="step 4"/>
          <p:cNvSpPr/>
          <p:nvPr/>
        </p:nvSpPr>
        <p:spPr>
          <a:xfrm>
            <a:off x="548640" y="4645152"/>
            <a:ext cx="566928" cy="566928"/>
          </a:xfrm>
          <a:prstGeom prst="ellipse">
            <a:avLst/>
          </a:prstGeom>
          <a:solidFill>
            <a:schemeClr val="accent1"/>
          </a:solidFill>
          <a:ln w="12700">
            <a:solidFill>
              <a:schemeClr val="accent1"/>
            </a:solidFill>
            <a:prstDash val="solid"/>
          </a:ln>
        </p:spPr>
      </p:sp>
      <p:sp>
        <p:nvSpPr>
          <p:cNvPr id="13" name="Text 11"/>
          <p:cNvSpPr txBox="1"/>
          <p:nvPr/>
        </p:nvSpPr>
        <p:spPr>
          <a:xfrm>
            <a:off x="548640" y="4645152"/>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4</a:t>
            </a:r>
            <a:endParaRPr lang="en-US" sz="1800" dirty="0"/>
          </a:p>
        </p:txBody>
      </p:sp>
      <p:sp>
        <p:nvSpPr>
          <p:cNvPr id="14" name="Text 12"/>
          <p:cNvSpPr txBox="1"/>
          <p:nvPr/>
        </p:nvSpPr>
        <p:spPr>
          <a:xfrm>
            <a:off x="1325880" y="4535424"/>
            <a:ext cx="4297680" cy="822960"/>
          </a:xfrm>
          <a:prstGeom prst="rect">
            <a:avLst/>
          </a:prstGeom>
          <a:noFill/>
          <a:ln/>
        </p:spPr>
        <p:txBody>
          <a:bodyPr wrap="square" lIns="0" tIns="0" rIns="0" bIns="0" rtlCol="0" anchor="ctr"/>
          <a:lstStyle/>
          <a:p>
            <a:pPr indent="0" marL="0">
              <a:buNone/>
            </a:pPr>
            <a:r>
              <a:rPr lang="en-US" sz="1700" b="1" dirty="0">
                <a:solidFill>
                  <a:schemeClr val="tx1"/>
                </a:solidFill>
              </a:rPr>
              <a:t>Verify</a:t>
            </a:r>
            <a:endParaRPr lang="en-US" sz="1700" dirty="0"/>
          </a:p>
          <a:p>
            <a:pPr indent="0" marL="0">
              <a:buNone/>
            </a:pPr>
            <a:r>
              <a:rPr lang="en-US" sz="1400" dirty="0">
                <a:solidFill>
                  <a:schemeClr val="tx2"/>
                </a:solidFill>
              </a:rPr>
              <a:t>Refresh expensepilot.local and the change is live</a:t>
            </a:r>
            <a:endParaRPr lang="en-US" sz="1700" dirty="0"/>
          </a:p>
        </p:txBody>
      </p:sp>
      <p:sp>
        <p:nvSpPr>
          <p:cNvPr id="15" name="Text 13"/>
          <p:cNvSpPr txBox="1"/>
          <p:nvPr/>
        </p:nvSpPr>
        <p:spPr>
          <a:xfrm>
            <a:off x="6035040" y="1234440"/>
            <a:ext cx="5486400" cy="256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expensepilot.local:8080 through Ingress</a:t>
            </a:r>
            <a:endParaRPr lang="en-US" sz="1100" dirty="0"/>
          </a:p>
        </p:txBody>
      </p:sp>
      <p:sp>
        <p:nvSpPr>
          <p:cNvPr id="16" name="frame ingress.jpg"/>
          <p:cNvSpPr/>
          <p:nvPr/>
        </p:nvSpPr>
        <p:spPr>
          <a:xfrm>
            <a:off x="6007608" y="1527048"/>
            <a:ext cx="5660136" cy="3597396"/>
          </a:xfrm>
          <a:prstGeom prst="rect">
            <a:avLst/>
          </a:prstGeom>
          <a:solidFill>
            <a:schemeClr val="accent3"/>
          </a:solidFill>
          <a:ln w="9525">
            <a:solidFill>
              <a:schemeClr val="accent3"/>
            </a:solidFill>
            <a:prstDash val="solid"/>
          </a:ln>
        </p:spPr>
      </p:sp>
      <p:pic>
        <p:nvPicPr>
          <p:cNvPr id="17" name="Image 0" descr="ingress.jpg">    </p:cNvPr>
          <p:cNvPicPr>
            <a:picLocks noChangeAspect="1"/>
          </p:cNvPicPr>
          <p:nvPr/>
        </p:nvPicPr>
        <p:blipFill>
          <a:blip r:embed="rId1"/>
          <a:stretch>
            <a:fillRect/>
          </a:stretch>
        </p:blipFill>
        <p:spPr>
          <a:xfrm>
            <a:off x="6035040" y="1554480"/>
            <a:ext cx="5605272" cy="3542532"/>
          </a:xfrm>
          <a:prstGeom prst="rect">
            <a:avLst/>
          </a:prstGeom>
        </p:spPr>
      </p:pic>
      <p:sp>
        <p:nvSpPr>
          <p:cNvPr id="18" name="Text 15"/>
          <p:cNvSpPr txBox="1"/>
          <p:nvPr/>
        </p:nvSpPr>
        <p:spPr>
          <a:xfrm>
            <a:off x="6035040" y="5623560"/>
            <a:ext cx="5605272" cy="50292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Thanks!  </a:t>
            </a:r>
            <a:pPr indent="0" marL="0">
              <a:buNone/>
            </a:pPr>
            <a:r>
              <a:rPr lang="en-US" sz="1200" u="sng" dirty="0">
                <a:solidFill>
                  <a:schemeClr val="accent4"/>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github.com/akshat-code21/final-devops-project</a:t>
            </a:r>
            <a:endParaRPr lang="en-US" sz="2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xpensePilot Dark">
  <a:themeElements>
    <a:clrScheme name="ExpensePilot Dark">
      <a:dk1>
        <a:srgbClr val="E6EDF3"/>
      </a:dk1>
      <a:lt1>
        <a:srgbClr val="0D1117"/>
      </a:lt1>
      <a:dk2>
        <a:srgbClr val="8B949E"/>
      </a:dk2>
      <a:lt2>
        <a:srgbClr val="161B22"/>
      </a:lt2>
      <a:accent1>
        <a:srgbClr val="F2B84B"/>
      </a:accent1>
      <a:accent2>
        <a:srgbClr val="3FB950"/>
      </a:accent2>
      <a:accent3>
        <a:srgbClr val="30363D"/>
      </a:accent3>
      <a:accent4>
        <a:srgbClr val="58A6FF"/>
      </a:accent4>
      <a:accent5>
        <a:srgbClr val="F85149"/>
      </a:accent5>
      <a:accent6>
        <a:srgbClr val="1F2630"/>
      </a:accent6>
      <a:hlink>
        <a:srgbClr val="58A6FF"/>
      </a:hlink>
      <a:folHlink>
        <a:srgbClr val="58A6FF"/>
      </a:folHlink>
    </a:clrScheme>
    <a:fontScheme name="ExpensePilot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ExpensePilot DevOps Capstone</dc:title>
  <dc:subject>PptxGenJS Presentation</dc:subject>
  <dc:creator>Akshat Sipany</dc:creator>
  <cp:lastModifiedBy>Akshat Sipany</cp:lastModifiedBy>
  <cp:revision>1</cp:revision>
  <dcterms:created xsi:type="dcterms:W3CDTF">2026-10-09T18:22:58Z</dcterms:created>
  <dcterms:modified xsi:type="dcterms:W3CDTF">2026-10-09T18:22:58Z</dcterms:modified>
</cp:coreProperties>
</file>